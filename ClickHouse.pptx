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 Bold" charset="1" panose="02000000000000000000"/>
      <p:regular r:id="rId16"/>
    </p:embeddedFont>
    <p:embeddedFont>
      <p:font typeface="Roboto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14" Target="../media/image27.png" Type="http://schemas.openxmlformats.org/officeDocument/2006/relationships/image"/><Relationship Id="rId15" Target="../media/image28.png" Type="http://schemas.openxmlformats.org/officeDocument/2006/relationships/image"/><Relationship Id="rId16" Target="../media/image29.png" Type="http://schemas.openxmlformats.org/officeDocument/2006/relationships/image"/><Relationship Id="rId17" Target="../media/image30.png" Type="http://schemas.openxmlformats.org/officeDocument/2006/relationships/image"/><Relationship Id="rId18" Target="../media/image31.png" Type="http://schemas.openxmlformats.org/officeDocument/2006/relationships/image"/><Relationship Id="rId19" Target="../media/image32.png" Type="http://schemas.openxmlformats.org/officeDocument/2006/relationships/image"/><Relationship Id="rId2" Target="../media/image15.png" Type="http://schemas.openxmlformats.org/officeDocument/2006/relationships/image"/><Relationship Id="rId20" Target="../media/image33.png" Type="http://schemas.openxmlformats.org/officeDocument/2006/relationships/image"/><Relationship Id="rId21" Target="../media/image34.png" Type="http://schemas.openxmlformats.org/officeDocument/2006/relationships/image"/><Relationship Id="rId22" Target="../media/image35.png" Type="http://schemas.openxmlformats.org/officeDocument/2006/relationships/image"/><Relationship Id="rId23" Target="../media/image36.png" Type="http://schemas.openxmlformats.org/officeDocument/2006/relationships/image"/><Relationship Id="rId24" Target="../media/image37.png" Type="http://schemas.openxmlformats.org/officeDocument/2006/relationships/image"/><Relationship Id="rId25" Target="../media/image38.png" Type="http://schemas.openxmlformats.org/officeDocument/2006/relationships/image"/><Relationship Id="rId26" Target="../media/image39.png" Type="http://schemas.openxmlformats.org/officeDocument/2006/relationships/image"/><Relationship Id="rId27" Target="../media/image40.png" Type="http://schemas.openxmlformats.org/officeDocument/2006/relationships/image"/><Relationship Id="rId28" Target="../media/image41.png" Type="http://schemas.openxmlformats.org/officeDocument/2006/relationships/image"/><Relationship Id="rId29" Target="../media/image42.png" Type="http://schemas.openxmlformats.org/officeDocument/2006/relationships/image"/><Relationship Id="rId3" Target="../media/image16.png" Type="http://schemas.openxmlformats.org/officeDocument/2006/relationships/image"/><Relationship Id="rId30" Target="../media/image43.png" Type="http://schemas.openxmlformats.org/officeDocument/2006/relationships/image"/><Relationship Id="rId31" Target="../media/image44.png" Type="http://schemas.openxmlformats.org/officeDocument/2006/relationships/image"/><Relationship Id="rId32" Target="../media/image45.png" Type="http://schemas.openxmlformats.org/officeDocument/2006/relationships/image"/><Relationship Id="rId33" Target="../media/image4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png" Type="http://schemas.openxmlformats.org/officeDocument/2006/relationships/image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70.pn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Relationship Id="rId3" Target="../media/image75.png" Type="http://schemas.openxmlformats.org/officeDocument/2006/relationships/image"/><Relationship Id="rId4" Target="../media/image76.png" Type="http://schemas.openxmlformats.org/officeDocument/2006/relationships/image"/><Relationship Id="rId5" Target="../media/image77.png" Type="http://schemas.openxmlformats.org/officeDocument/2006/relationships/image"/><Relationship Id="rId6" Target="../media/image7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7.png" Type="http://schemas.openxmlformats.org/officeDocument/2006/relationships/image"/><Relationship Id="rId11" Target="../media/image88.png" Type="http://schemas.openxmlformats.org/officeDocument/2006/relationships/image"/><Relationship Id="rId12" Target="../media/image89.png" Type="http://schemas.openxmlformats.org/officeDocument/2006/relationships/image"/><Relationship Id="rId13" Target="../media/image90.png" Type="http://schemas.openxmlformats.org/officeDocument/2006/relationships/image"/><Relationship Id="rId2" Target="../media/image79.png" Type="http://schemas.openxmlformats.org/officeDocument/2006/relationships/image"/><Relationship Id="rId3" Target="../media/image80.pn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Relationship Id="rId7" Target="../media/image84.png" Type="http://schemas.openxmlformats.org/officeDocument/2006/relationships/image"/><Relationship Id="rId8" Target="../media/image85.png" Type="http://schemas.openxmlformats.org/officeDocument/2006/relationships/image"/><Relationship Id="rId9" Target="../media/image8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Relationship Id="rId3" Target="../media/image92.png" Type="http://schemas.openxmlformats.org/officeDocument/2006/relationships/image"/><Relationship Id="rId4" Target="../media/image9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57382" cy="10382277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50216" y="1497682"/>
            <a:ext cx="10237784" cy="5367604"/>
            <a:chOff x="0" y="0"/>
            <a:chExt cx="13650379" cy="71568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650340" cy="7156831"/>
            </a:xfrm>
            <a:custGeom>
              <a:avLst/>
              <a:gdLst/>
              <a:ahLst/>
              <a:cxnLst/>
              <a:rect r="r" b="b" t="t" l="l"/>
              <a:pathLst>
                <a:path h="7156831" w="13650340">
                  <a:moveTo>
                    <a:pt x="0" y="0"/>
                  </a:moveTo>
                  <a:lnTo>
                    <a:pt x="13650340" y="0"/>
                  </a:lnTo>
                  <a:lnTo>
                    <a:pt x="13650340" y="7156831"/>
                  </a:lnTo>
                  <a:lnTo>
                    <a:pt x="0" y="7156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29904" y="866346"/>
            <a:ext cx="11303603" cy="26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5"/>
              </a:lnSpc>
            </a:pPr>
            <a:r>
              <a:rPr lang="en-US" b="true" sz="6480" spc="-62">
                <a:solidFill>
                  <a:srgbClr val="FFFFFF">
                    <a:alpha val="8941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ClickHouse:</a:t>
            </a:r>
          </a:p>
          <a:p>
            <a:pPr algn="l">
              <a:lnSpc>
                <a:spcPts val="7125"/>
              </a:lnSpc>
            </a:pPr>
            <a:r>
              <a:rPr lang="en-US" b="true" sz="6480" spc="-62">
                <a:solidFill>
                  <a:srgbClr val="FFFFFF">
                    <a:alpha val="8941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Architecture, Features, Performance and Applications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45328" y="3848062"/>
            <a:ext cx="1542231" cy="229572"/>
            <a:chOff x="0" y="0"/>
            <a:chExt cx="2056308" cy="3060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6257" cy="306070"/>
            </a:xfrm>
            <a:custGeom>
              <a:avLst/>
              <a:gdLst/>
              <a:ahLst/>
              <a:cxnLst/>
              <a:rect r="r" b="b" t="t" l="l"/>
              <a:pathLst>
                <a:path h="306070" w="2056257">
                  <a:moveTo>
                    <a:pt x="0" y="0"/>
                  </a:moveTo>
                  <a:lnTo>
                    <a:pt x="2056257" y="0"/>
                  </a:lnTo>
                  <a:lnTo>
                    <a:pt x="2056257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" r="-2" b="-3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70881" y="4583297"/>
            <a:ext cx="7205748" cy="43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b="true" sz="3168" spc="-30">
                <a:solidFill>
                  <a:srgbClr val="1068E1"/>
                </a:solidFill>
                <a:latin typeface="Roboto Bold"/>
                <a:ea typeface="Roboto Bold"/>
                <a:cs typeface="Roboto Bold"/>
                <a:sym typeface="Roboto Bold"/>
              </a:rPr>
              <a:t>Open-source Columnar OLAP Database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45328" y="5783018"/>
            <a:ext cx="667207" cy="655920"/>
            <a:chOff x="0" y="0"/>
            <a:chExt cx="889610" cy="874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9635" cy="874522"/>
            </a:xfrm>
            <a:custGeom>
              <a:avLst/>
              <a:gdLst/>
              <a:ahLst/>
              <a:cxnLst/>
              <a:rect r="r" b="b" t="t" l="l"/>
              <a:pathLst>
                <a:path h="874522" w="889635">
                  <a:moveTo>
                    <a:pt x="0" y="0"/>
                  </a:moveTo>
                  <a:lnTo>
                    <a:pt x="889635" y="0"/>
                  </a:lnTo>
                  <a:lnTo>
                    <a:pt x="889635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2" b="-3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353239" y="5783018"/>
            <a:ext cx="437512" cy="655920"/>
            <a:chOff x="0" y="0"/>
            <a:chExt cx="583349" cy="87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3311" cy="874522"/>
            </a:xfrm>
            <a:custGeom>
              <a:avLst/>
              <a:gdLst/>
              <a:ahLst/>
              <a:cxnLst/>
              <a:rect r="r" b="b" t="t" l="l"/>
              <a:pathLst>
                <a:path h="874522" w="583311">
                  <a:moveTo>
                    <a:pt x="0" y="0"/>
                  </a:moveTo>
                  <a:lnTo>
                    <a:pt x="583311" y="0"/>
                  </a:lnTo>
                  <a:lnTo>
                    <a:pt x="583311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-6" b="-3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12704" y="5783018"/>
            <a:ext cx="667207" cy="655920"/>
            <a:chOff x="0" y="0"/>
            <a:chExt cx="889610" cy="87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9635" cy="874522"/>
            </a:xfrm>
            <a:custGeom>
              <a:avLst/>
              <a:gdLst/>
              <a:ahLst/>
              <a:cxnLst/>
              <a:rect r="r" b="b" t="t" l="l"/>
              <a:pathLst>
                <a:path h="874522" w="889635">
                  <a:moveTo>
                    <a:pt x="0" y="0"/>
                  </a:moveTo>
                  <a:lnTo>
                    <a:pt x="889635" y="0"/>
                  </a:lnTo>
                  <a:lnTo>
                    <a:pt x="889635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2" b="-3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08089" y="5783018"/>
            <a:ext cx="448447" cy="655920"/>
            <a:chOff x="0" y="0"/>
            <a:chExt cx="597929" cy="874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7916" cy="874522"/>
            </a:xfrm>
            <a:custGeom>
              <a:avLst/>
              <a:gdLst/>
              <a:ahLst/>
              <a:cxnLst/>
              <a:rect r="r" b="b" t="t" l="l"/>
              <a:pathLst>
                <a:path h="874522" w="597916">
                  <a:moveTo>
                    <a:pt x="0" y="0"/>
                  </a:moveTo>
                  <a:lnTo>
                    <a:pt x="597916" y="0"/>
                  </a:lnTo>
                  <a:lnTo>
                    <a:pt x="597916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6" r="-2" b="-3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40731" y="6601444"/>
            <a:ext cx="936498" cy="43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b="true" sz="3168" spc="-30">
                <a:solidFill>
                  <a:srgbClr val="1068E1"/>
                </a:solidFill>
                <a:latin typeface="Roboto Bold"/>
                <a:ea typeface="Roboto Bold"/>
                <a:cs typeface="Roboto Bold"/>
                <a:sym typeface="Roboto Bold"/>
              </a:rPr>
              <a:t>2009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5014" y="7086724"/>
            <a:ext cx="2508037" cy="76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986" spc="19">
                <a:solidFill>
                  <a:srgbClr val="FFFFFF">
                    <a:alpha val="8941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Developed at Yandex for Yandex.Metrica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76887" y="6601444"/>
            <a:ext cx="936498" cy="43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b="true" sz="3168" spc="-30">
                <a:solidFill>
                  <a:srgbClr val="1068E1"/>
                </a:solidFill>
                <a:latin typeface="Roboto Bold"/>
                <a:ea typeface="Roboto Bold"/>
                <a:cs typeface="Roboto Bold"/>
                <a:sym typeface="Roboto Bold"/>
              </a:rPr>
              <a:t>2016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62085" y="7086724"/>
            <a:ext cx="2416426" cy="76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986" spc="19">
                <a:solidFill>
                  <a:srgbClr val="FFFFFF">
                    <a:alpha val="8941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Open-sourced under Apache 2.0 license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05887" y="6601444"/>
            <a:ext cx="936498" cy="43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b="true" sz="3168" spc="-30">
                <a:solidFill>
                  <a:srgbClr val="1068E1"/>
                </a:solidFill>
                <a:latin typeface="Roboto Bold"/>
                <a:ea typeface="Roboto Bold"/>
                <a:cs typeface="Roboto Bold"/>
                <a:sym typeface="Roboto Bold"/>
              </a:rPr>
              <a:t>2021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88770" y="7086724"/>
            <a:ext cx="2648350" cy="112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986" spc="19">
                <a:solidFill>
                  <a:srgbClr val="FFFFFF">
                    <a:alpha val="8941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ClickHouse Inc. established as independent company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2725" y="8604209"/>
            <a:ext cx="7379084" cy="96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574" spc="24">
                <a:solidFill>
                  <a:srgbClr val="FFFFFF">
                    <a:alpha val="8941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 high-performance OLAP database designed to analyze </a:t>
            </a:r>
            <a:r>
              <a:rPr lang="en-US" b="true" sz="2574" spc="24">
                <a:solidFill>
                  <a:srgbClr val="1068E1">
                    <a:alpha val="8941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billions of rows</a:t>
            </a:r>
            <a:r>
              <a:rPr lang="en-US" sz="2574" spc="24">
                <a:solidFill>
                  <a:srgbClr val="FFFFFF">
                    <a:alpha val="8941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efficiently.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13759" y="942318"/>
            <a:ext cx="4881420" cy="191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0"/>
              </a:lnSpc>
            </a:pPr>
            <a:r>
              <a:rPr lang="en-US" sz="735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OLAP and Data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5400" y="3117694"/>
            <a:ext cx="5396189" cy="98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6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OLAP </a:t>
            </a:r>
            <a:r>
              <a:rPr lang="en-US" sz="248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systems are built for </a:t>
            </a:r>
            <a:r>
              <a:rPr lang="en-US" sz="2486" b="true">
                <a:solidFill>
                  <a:srgbClr val="1873E8"/>
                </a:solidFill>
                <a:latin typeface="Roboto Bold"/>
                <a:ea typeface="Roboto Bold"/>
                <a:cs typeface="Roboto Bold"/>
                <a:sym typeface="Roboto Bold"/>
              </a:rPr>
              <a:t>analytical</a:t>
            </a:r>
            <a:r>
              <a:rPr lang="en-US" sz="248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 processing over large datasets.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26577" y="4493047"/>
            <a:ext cx="1760982" cy="229572"/>
            <a:chOff x="0" y="0"/>
            <a:chExt cx="2347976" cy="3060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7976" cy="306070"/>
            </a:xfrm>
            <a:custGeom>
              <a:avLst/>
              <a:gdLst/>
              <a:ahLst/>
              <a:cxnLst/>
              <a:rect r="r" b="b" t="t" l="l"/>
              <a:pathLst>
                <a:path h="306070" w="2347976">
                  <a:moveTo>
                    <a:pt x="0" y="0"/>
                  </a:moveTo>
                  <a:lnTo>
                    <a:pt x="2347976" y="0"/>
                  </a:lnTo>
                  <a:lnTo>
                    <a:pt x="2347976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" r="0" b="-3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89359" y="5052374"/>
            <a:ext cx="6161484" cy="46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1"/>
              </a:lnSpc>
            </a:pPr>
            <a:r>
              <a:rPr lang="en-US" sz="218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Relational-style tables with rows and columns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9359" y="5738974"/>
            <a:ext cx="6161484" cy="92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Columnar storage reads only the data you need for faster aggregations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9359" y="6883603"/>
            <a:ext cx="6161484" cy="92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Ideal for dashboards, logs, event data, </a:t>
            </a:r>
          </a:p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time-series analysis, and large aggregations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9359" y="8043281"/>
            <a:ext cx="6161484" cy="92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Less suited for frequent single-row updates </a:t>
            </a:r>
          </a:p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and heavy transactional workloads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956441" y="426349"/>
            <a:ext cx="11123743" cy="9434303"/>
            <a:chOff x="0" y="0"/>
            <a:chExt cx="14831657" cy="12579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831695" cy="12579096"/>
            </a:xfrm>
            <a:custGeom>
              <a:avLst/>
              <a:gdLst/>
              <a:ahLst/>
              <a:cxnLst/>
              <a:rect r="r" b="b" t="t" l="l"/>
              <a:pathLst>
                <a:path h="12579096" w="14831695">
                  <a:moveTo>
                    <a:pt x="0" y="0"/>
                  </a:moveTo>
                  <a:lnTo>
                    <a:pt x="14831695" y="0"/>
                  </a:lnTo>
                  <a:lnTo>
                    <a:pt x="14831695" y="12579096"/>
                  </a:lnTo>
                  <a:lnTo>
                    <a:pt x="0" y="12579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0" b="-2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961690" y="1675343"/>
            <a:ext cx="3047028" cy="87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178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ROW-BASED STORAGE</a:t>
            </a:r>
          </a:p>
          <a:p>
            <a:pPr algn="ctr">
              <a:lnSpc>
                <a:spcPts val="3268"/>
              </a:lnSpc>
            </a:pPr>
            <a:r>
              <a:rPr lang="en-US" sz="2178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stores full rows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175192" y="2995365"/>
            <a:ext cx="4801695" cy="4077633"/>
            <a:chOff x="0" y="0"/>
            <a:chExt cx="6402260" cy="54368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02197" cy="5436870"/>
            </a:xfrm>
            <a:custGeom>
              <a:avLst/>
              <a:gdLst/>
              <a:ahLst/>
              <a:cxnLst/>
              <a:rect r="r" b="b" t="t" l="l"/>
              <a:pathLst>
                <a:path h="5436870" w="6402197">
                  <a:moveTo>
                    <a:pt x="0" y="0"/>
                  </a:moveTo>
                  <a:lnTo>
                    <a:pt x="6402197" y="0"/>
                  </a:lnTo>
                  <a:lnTo>
                    <a:pt x="6402197" y="5436870"/>
                  </a:lnTo>
                  <a:lnTo>
                    <a:pt x="0" y="543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0" b="-2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992526" y="3216659"/>
            <a:ext cx="547764" cy="382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price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33410" y="1675343"/>
            <a:ext cx="3965334" cy="87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178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COLUMN-BASED STORAGE</a:t>
            </a:r>
          </a:p>
          <a:p>
            <a:pPr algn="l">
              <a:lnSpc>
                <a:spcPts val="3268"/>
              </a:lnSpc>
            </a:pPr>
            <a:r>
              <a:rPr lang="en-US" sz="2178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stores each column separately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622216" y="2995365"/>
            <a:ext cx="1312535" cy="3651285"/>
            <a:chOff x="0" y="0"/>
            <a:chExt cx="1750047" cy="48683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50060" cy="4868418"/>
            </a:xfrm>
            <a:custGeom>
              <a:avLst/>
              <a:gdLst/>
              <a:ahLst/>
              <a:cxnLst/>
              <a:rect r="r" b="b" t="t" l="l"/>
              <a:pathLst>
                <a:path h="4868418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4868418"/>
                  </a:lnTo>
                  <a:lnTo>
                    <a:pt x="0" y="486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0" b="-2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747192" y="4493047"/>
            <a:ext cx="885958" cy="874557"/>
            <a:chOff x="0" y="0"/>
            <a:chExt cx="1181278" cy="11660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1227" cy="1166114"/>
            </a:xfrm>
            <a:custGeom>
              <a:avLst/>
              <a:gdLst/>
              <a:ahLst/>
              <a:cxnLst/>
              <a:rect r="r" b="b" t="t" l="l"/>
              <a:pathLst>
                <a:path h="1166114" w="1181227">
                  <a:moveTo>
                    <a:pt x="0" y="0"/>
                  </a:moveTo>
                  <a:lnTo>
                    <a:pt x="1181227" y="0"/>
                  </a:lnTo>
                  <a:lnTo>
                    <a:pt x="1181227" y="1166114"/>
                  </a:lnTo>
                  <a:lnTo>
                    <a:pt x="0" y="1166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-4" b="-2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756704" y="6428013"/>
            <a:ext cx="667207" cy="1082269"/>
            <a:chOff x="0" y="0"/>
            <a:chExt cx="889610" cy="14430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89635" cy="1442974"/>
            </a:xfrm>
            <a:custGeom>
              <a:avLst/>
              <a:gdLst/>
              <a:ahLst/>
              <a:cxnLst/>
              <a:rect r="r" b="b" t="t" l="l"/>
              <a:pathLst>
                <a:path h="1442974" w="889635">
                  <a:moveTo>
                    <a:pt x="0" y="0"/>
                  </a:moveTo>
                  <a:lnTo>
                    <a:pt x="889635" y="0"/>
                  </a:lnTo>
                  <a:lnTo>
                    <a:pt x="889635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6" r="2" b="-29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190181" y="7453122"/>
            <a:ext cx="5625703" cy="213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29"/>
              </a:lnSpc>
            </a:pPr>
            <a:r>
              <a:rPr lang="en-US" sz="3303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Example: </a:t>
            </a:r>
            <a:r>
              <a:rPr lang="en-US" sz="3303" b="true">
                <a:solidFill>
                  <a:srgbClr val="1570E1"/>
                </a:solidFill>
                <a:latin typeface="Roboto Bold"/>
                <a:ea typeface="Roboto Bold"/>
                <a:cs typeface="Roboto Bold"/>
                <a:sym typeface="Roboto Bold"/>
              </a:rPr>
              <a:t>SELECT avg(price) FROM products;</a:t>
            </a:r>
            <a:r>
              <a:rPr lang="en-US" sz="3303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just">
              <a:lnSpc>
                <a:spcPts val="4129"/>
              </a:lnSpc>
            </a:pPr>
            <a:r>
              <a:rPr lang="en-US" sz="3303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reads only the ‘price’ column in columnar storage.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344823" y="3216659"/>
            <a:ext cx="844306" cy="382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product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92326" y="3216659"/>
            <a:ext cx="844306" cy="382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product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40534" y="3216659"/>
            <a:ext cx="790451" cy="382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user_id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12659" y="3216659"/>
            <a:ext cx="790451" cy="382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user_id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778964" y="3216659"/>
            <a:ext cx="547764" cy="382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price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20143" y="3216659"/>
            <a:ext cx="488099" cy="382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time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31534" y="3216659"/>
            <a:ext cx="488099" cy="382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time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153250" cy="10773703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8207" y="495748"/>
            <a:ext cx="9757448" cy="101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5"/>
              </a:lnSpc>
            </a:pPr>
            <a:r>
              <a:rPr lang="en-US" sz="6662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Architecture and Storage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0255" y="1591199"/>
            <a:ext cx="9552242" cy="44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75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High-performance columnar engine for real-time analytics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26577" y="2569016"/>
            <a:ext cx="2406320" cy="4296270"/>
            <a:chOff x="0" y="0"/>
            <a:chExt cx="3208426" cy="5728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08401" cy="5728335"/>
            </a:xfrm>
            <a:custGeom>
              <a:avLst/>
              <a:gdLst/>
              <a:ahLst/>
              <a:cxnLst/>
              <a:rect r="r" b="b" t="t" l="l"/>
              <a:pathLst>
                <a:path h="5728335" w="3208401">
                  <a:moveTo>
                    <a:pt x="0" y="0"/>
                  </a:moveTo>
                  <a:lnTo>
                    <a:pt x="3208401" y="0"/>
                  </a:lnTo>
                  <a:lnTo>
                    <a:pt x="3208401" y="5728335"/>
                  </a:lnTo>
                  <a:lnTo>
                    <a:pt x="0" y="5728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5328" y="3421713"/>
            <a:ext cx="1968808" cy="1082269"/>
            <a:chOff x="0" y="0"/>
            <a:chExt cx="2625077" cy="14430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25090" cy="1442974"/>
            </a:xfrm>
            <a:custGeom>
              <a:avLst/>
              <a:gdLst/>
              <a:ahLst/>
              <a:cxnLst/>
              <a:rect r="r" b="b" t="t" l="l"/>
              <a:pathLst>
                <a:path h="1442974" w="2625090">
                  <a:moveTo>
                    <a:pt x="0" y="0"/>
                  </a:moveTo>
                  <a:lnTo>
                    <a:pt x="2625090" y="0"/>
                  </a:lnTo>
                  <a:lnTo>
                    <a:pt x="2625090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0" b="-2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5328" y="4493047"/>
            <a:ext cx="1968808" cy="1082269"/>
            <a:chOff x="0" y="0"/>
            <a:chExt cx="2625077" cy="14430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25090" cy="1442974"/>
            </a:xfrm>
            <a:custGeom>
              <a:avLst/>
              <a:gdLst/>
              <a:ahLst/>
              <a:cxnLst/>
              <a:rect r="r" b="b" t="t" l="l"/>
              <a:pathLst>
                <a:path h="1442974" w="2625090">
                  <a:moveTo>
                    <a:pt x="0" y="0"/>
                  </a:moveTo>
                  <a:lnTo>
                    <a:pt x="2625090" y="0"/>
                  </a:lnTo>
                  <a:lnTo>
                    <a:pt x="2625090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0" b="-29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93968" y="4897507"/>
            <a:ext cx="843886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3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BI Tools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5328" y="5564381"/>
            <a:ext cx="1968808" cy="1082269"/>
            <a:chOff x="0" y="0"/>
            <a:chExt cx="2625077" cy="14430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25090" cy="1442974"/>
            </a:xfrm>
            <a:custGeom>
              <a:avLst/>
              <a:gdLst/>
              <a:ahLst/>
              <a:cxnLst/>
              <a:rect r="r" b="b" t="t" l="l"/>
              <a:pathLst>
                <a:path h="1442974" w="2625090">
                  <a:moveTo>
                    <a:pt x="0" y="0"/>
                  </a:moveTo>
                  <a:lnTo>
                    <a:pt x="2625090" y="0"/>
                  </a:lnTo>
                  <a:lnTo>
                    <a:pt x="2625090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0" b="-29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07777" y="5797163"/>
            <a:ext cx="1021632" cy="55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Data</a:t>
            </a:r>
          </a:p>
          <a:p>
            <a:pPr algn="ctr">
              <a:lnSpc>
                <a:spcPts val="2235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Ingestion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603192" y="3848062"/>
            <a:ext cx="885958" cy="448208"/>
            <a:chOff x="0" y="0"/>
            <a:chExt cx="1181278" cy="5976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1227" cy="597662"/>
            </a:xfrm>
            <a:custGeom>
              <a:avLst/>
              <a:gdLst/>
              <a:ahLst/>
              <a:cxnLst/>
              <a:rect r="r" b="b" t="t" l="l"/>
              <a:pathLst>
                <a:path h="597662" w="1181227">
                  <a:moveTo>
                    <a:pt x="0" y="0"/>
                  </a:moveTo>
                  <a:lnTo>
                    <a:pt x="1181227" y="0"/>
                  </a:lnTo>
                  <a:lnTo>
                    <a:pt x="1181227" y="597662"/>
                  </a:lnTo>
                  <a:lnTo>
                    <a:pt x="0" y="597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7" r="-4" b="-1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478216" y="2569016"/>
            <a:ext cx="5457958" cy="3224936"/>
            <a:chOff x="0" y="0"/>
            <a:chExt cx="7277278" cy="42999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77227" cy="4299966"/>
            </a:xfrm>
            <a:custGeom>
              <a:avLst/>
              <a:gdLst/>
              <a:ahLst/>
              <a:cxnLst/>
              <a:rect r="r" b="b" t="t" l="l"/>
              <a:pathLst>
                <a:path h="4299966" w="7277227">
                  <a:moveTo>
                    <a:pt x="0" y="0"/>
                  </a:moveTo>
                  <a:lnTo>
                    <a:pt x="7277227" y="0"/>
                  </a:lnTo>
                  <a:lnTo>
                    <a:pt x="7277227" y="4299966"/>
                  </a:lnTo>
                  <a:lnTo>
                    <a:pt x="0" y="4299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6" r="0" b="-2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696976" y="3421713"/>
            <a:ext cx="1750047" cy="1082269"/>
            <a:chOff x="0" y="0"/>
            <a:chExt cx="2333396" cy="14430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33371" cy="1442974"/>
            </a:xfrm>
            <a:custGeom>
              <a:avLst/>
              <a:gdLst/>
              <a:ahLst/>
              <a:cxnLst/>
              <a:rect r="r" b="b" t="t" l="l"/>
              <a:pathLst>
                <a:path h="1442974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6" r="-1" b="-29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100103" y="3763956"/>
            <a:ext cx="984152" cy="55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SQL</a:t>
            </a:r>
          </a:p>
          <a:p>
            <a:pPr algn="ctr">
              <a:lnSpc>
                <a:spcPts val="2235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Interface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436089" y="3421713"/>
            <a:ext cx="1531296" cy="1082269"/>
            <a:chOff x="0" y="0"/>
            <a:chExt cx="2041728" cy="14430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41779" cy="1442974"/>
            </a:xfrm>
            <a:custGeom>
              <a:avLst/>
              <a:gdLst/>
              <a:ahLst/>
              <a:cxnLst/>
              <a:rect r="r" b="b" t="t" l="l"/>
              <a:pathLst>
                <a:path h="1442974" w="2041779">
                  <a:moveTo>
                    <a:pt x="0" y="0"/>
                  </a:moveTo>
                  <a:lnTo>
                    <a:pt x="2041779" y="0"/>
                  </a:lnTo>
                  <a:lnTo>
                    <a:pt x="2041779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6" r="2" b="-29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668108" y="3763956"/>
            <a:ext cx="1116406" cy="55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Query</a:t>
            </a:r>
          </a:p>
          <a:p>
            <a:pPr algn="ctr">
              <a:lnSpc>
                <a:spcPts val="2235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Processor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956441" y="3421713"/>
            <a:ext cx="1760982" cy="1082269"/>
            <a:chOff x="0" y="0"/>
            <a:chExt cx="2347976" cy="14430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47976" cy="1442974"/>
            </a:xfrm>
            <a:custGeom>
              <a:avLst/>
              <a:gdLst/>
              <a:ahLst/>
              <a:cxnLst/>
              <a:rect r="r" b="b" t="t" l="l"/>
              <a:pathLst>
                <a:path h="1442974" w="2347976">
                  <a:moveTo>
                    <a:pt x="0" y="0"/>
                  </a:moveTo>
                  <a:lnTo>
                    <a:pt x="2347976" y="0"/>
                  </a:lnTo>
                  <a:lnTo>
                    <a:pt x="2347976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" r="0" b="-29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296626" y="3763956"/>
            <a:ext cx="1074058" cy="55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Execution</a:t>
            </a:r>
          </a:p>
          <a:p>
            <a:pPr algn="ctr">
              <a:lnSpc>
                <a:spcPts val="2235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Engine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3696976" y="4493047"/>
            <a:ext cx="5020447" cy="874557"/>
            <a:chOff x="0" y="0"/>
            <a:chExt cx="6693929" cy="11660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93916" cy="1166114"/>
            </a:xfrm>
            <a:custGeom>
              <a:avLst/>
              <a:gdLst/>
              <a:ahLst/>
              <a:cxnLst/>
              <a:rect r="r" b="b" t="t" l="l"/>
              <a:pathLst>
                <a:path h="1166114" w="6693916">
                  <a:moveTo>
                    <a:pt x="0" y="0"/>
                  </a:moveTo>
                  <a:lnTo>
                    <a:pt x="6693916" y="0"/>
                  </a:lnTo>
                  <a:lnTo>
                    <a:pt x="6693916" y="1166114"/>
                  </a:lnTo>
                  <a:lnTo>
                    <a:pt x="0" y="1166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6" r="0" b="-23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4644085" y="4882448"/>
            <a:ext cx="2831192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3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Vectorized Query Execution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873601" y="5564381"/>
            <a:ext cx="448447" cy="437283"/>
            <a:chOff x="0" y="0"/>
            <a:chExt cx="597929" cy="5830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7916" cy="583057"/>
            </a:xfrm>
            <a:custGeom>
              <a:avLst/>
              <a:gdLst/>
              <a:ahLst/>
              <a:cxnLst/>
              <a:rect r="r" b="b" t="t" l="l"/>
              <a:pathLst>
                <a:path h="583057" w="597916">
                  <a:moveTo>
                    <a:pt x="0" y="0"/>
                  </a:moveTo>
                  <a:lnTo>
                    <a:pt x="597916" y="0"/>
                  </a:lnTo>
                  <a:lnTo>
                    <a:pt x="597916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6" r="-2" b="-2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040704" y="5783018"/>
            <a:ext cx="6103296" cy="3224936"/>
            <a:chOff x="0" y="0"/>
            <a:chExt cx="8137728" cy="429991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37779" cy="4299966"/>
            </a:xfrm>
            <a:custGeom>
              <a:avLst/>
              <a:gdLst/>
              <a:ahLst/>
              <a:cxnLst/>
              <a:rect r="r" b="b" t="t" l="l"/>
              <a:pathLst>
                <a:path h="4299966" w="8137779">
                  <a:moveTo>
                    <a:pt x="0" y="0"/>
                  </a:moveTo>
                  <a:lnTo>
                    <a:pt x="8137779" y="0"/>
                  </a:lnTo>
                  <a:lnTo>
                    <a:pt x="8137779" y="4299966"/>
                  </a:lnTo>
                  <a:lnTo>
                    <a:pt x="0" y="4299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6" r="0" b="-25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3696891" y="6254039"/>
            <a:ext cx="4822031" cy="34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187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MERGETREE STORAGE ENGINE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961552" y="6691293"/>
            <a:ext cx="4196267" cy="26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9"/>
              </a:lnSpc>
            </a:pPr>
            <a:r>
              <a:rPr lang="en-US" sz="161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Immutable data parts merged in background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3259465" y="7062064"/>
            <a:ext cx="1312535" cy="1300905"/>
            <a:chOff x="0" y="0"/>
            <a:chExt cx="1750047" cy="173454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50060" cy="1734566"/>
            </a:xfrm>
            <a:custGeom>
              <a:avLst/>
              <a:gdLst/>
              <a:ahLst/>
              <a:cxnLst/>
              <a:rect r="r" b="b" t="t" l="l"/>
              <a:pathLst>
                <a:path h="1734566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1734566"/>
                  </a:lnTo>
                  <a:lnTo>
                    <a:pt x="0" y="1734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6" r="0" b="-2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353239" y="7062064"/>
            <a:ext cx="1312535" cy="1300905"/>
            <a:chOff x="0" y="0"/>
            <a:chExt cx="1750047" cy="173454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50060" cy="1734566"/>
            </a:xfrm>
            <a:custGeom>
              <a:avLst/>
              <a:gdLst/>
              <a:ahLst/>
              <a:cxnLst/>
              <a:rect r="r" b="b" t="t" l="l"/>
              <a:pathLst>
                <a:path h="1734566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1734566"/>
                  </a:lnTo>
                  <a:lnTo>
                    <a:pt x="0" y="1734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6" r="0" b="-25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436089" y="7062064"/>
            <a:ext cx="1323470" cy="1300905"/>
            <a:chOff x="0" y="0"/>
            <a:chExt cx="1764627" cy="173454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64665" cy="1734566"/>
            </a:xfrm>
            <a:custGeom>
              <a:avLst/>
              <a:gdLst/>
              <a:ahLst/>
              <a:cxnLst/>
              <a:rect r="r" b="b" t="t" l="l"/>
              <a:pathLst>
                <a:path h="1734566" w="1764665">
                  <a:moveTo>
                    <a:pt x="0" y="0"/>
                  </a:moveTo>
                  <a:lnTo>
                    <a:pt x="1764665" y="0"/>
                  </a:lnTo>
                  <a:lnTo>
                    <a:pt x="1764665" y="1734566"/>
                  </a:lnTo>
                  <a:lnTo>
                    <a:pt x="0" y="1734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26" r="2" b="-2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29864" y="7062064"/>
            <a:ext cx="1312535" cy="1300905"/>
            <a:chOff x="0" y="0"/>
            <a:chExt cx="1750047" cy="173454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50060" cy="1734566"/>
            </a:xfrm>
            <a:custGeom>
              <a:avLst/>
              <a:gdLst/>
              <a:ahLst/>
              <a:cxnLst/>
              <a:rect r="r" b="b" t="t" l="l"/>
              <a:pathLst>
                <a:path h="1734566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1734566"/>
                  </a:lnTo>
                  <a:lnTo>
                    <a:pt x="0" y="1734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6" r="0" b="-2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612704" y="7062064"/>
            <a:ext cx="1323470" cy="1300905"/>
            <a:chOff x="0" y="0"/>
            <a:chExt cx="1764627" cy="173454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64665" cy="1734566"/>
            </a:xfrm>
            <a:custGeom>
              <a:avLst/>
              <a:gdLst/>
              <a:ahLst/>
              <a:cxnLst/>
              <a:rect r="r" b="b" t="t" l="l"/>
              <a:pathLst>
                <a:path h="1734566" w="1764665">
                  <a:moveTo>
                    <a:pt x="0" y="0"/>
                  </a:moveTo>
                  <a:lnTo>
                    <a:pt x="1764665" y="0"/>
                  </a:lnTo>
                  <a:lnTo>
                    <a:pt x="1764665" y="1734566"/>
                  </a:lnTo>
                  <a:lnTo>
                    <a:pt x="0" y="1734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26" r="2" b="-2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3259465" y="8352034"/>
            <a:ext cx="1968808" cy="229572"/>
            <a:chOff x="0" y="0"/>
            <a:chExt cx="2625077" cy="30609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625090" cy="306070"/>
            </a:xfrm>
            <a:custGeom>
              <a:avLst/>
              <a:gdLst/>
              <a:ahLst/>
              <a:cxnLst/>
              <a:rect r="r" b="b" t="t" l="l"/>
              <a:pathLst>
                <a:path h="306070" w="2625090">
                  <a:moveTo>
                    <a:pt x="0" y="0"/>
                  </a:moveTo>
                  <a:lnTo>
                    <a:pt x="2625090" y="0"/>
                  </a:lnTo>
                  <a:lnTo>
                    <a:pt x="2625090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24" r="0" b="-37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5139719" y="8393163"/>
            <a:ext cx="1897266" cy="26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9"/>
              </a:lnSpc>
            </a:pPr>
            <a:r>
              <a:rPr lang="en-US" sz="161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Background Merges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6956441" y="8352034"/>
            <a:ext cx="1979743" cy="229572"/>
            <a:chOff x="0" y="0"/>
            <a:chExt cx="2639657" cy="30609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39695" cy="306070"/>
            </a:xfrm>
            <a:custGeom>
              <a:avLst/>
              <a:gdLst/>
              <a:ahLst/>
              <a:cxnLst/>
              <a:rect r="r" b="b" t="t" l="l"/>
              <a:pathLst>
                <a:path h="306070" w="2639695">
                  <a:moveTo>
                    <a:pt x="0" y="0"/>
                  </a:moveTo>
                  <a:lnTo>
                    <a:pt x="2639695" y="0"/>
                  </a:lnTo>
                  <a:lnTo>
                    <a:pt x="2639695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24" r="1" b="-37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570577" y="2569016"/>
            <a:ext cx="2187559" cy="4296270"/>
            <a:chOff x="0" y="0"/>
            <a:chExt cx="2916746" cy="5728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16809" cy="5728335"/>
            </a:xfrm>
            <a:custGeom>
              <a:avLst/>
              <a:gdLst/>
              <a:ahLst/>
              <a:cxnLst/>
              <a:rect r="r" b="b" t="t" l="l"/>
              <a:pathLst>
                <a:path h="5728335" w="2916809">
                  <a:moveTo>
                    <a:pt x="0" y="0"/>
                  </a:moveTo>
                  <a:lnTo>
                    <a:pt x="2916809" y="0"/>
                  </a:lnTo>
                  <a:lnTo>
                    <a:pt x="2916809" y="5728335"/>
                  </a:lnTo>
                  <a:lnTo>
                    <a:pt x="0" y="5728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26" r="2" b="-27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789328" y="3421713"/>
            <a:ext cx="1750047" cy="1082269"/>
            <a:chOff x="0" y="0"/>
            <a:chExt cx="2333396" cy="144302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33371" cy="1442974"/>
            </a:xfrm>
            <a:custGeom>
              <a:avLst/>
              <a:gdLst/>
              <a:ahLst/>
              <a:cxnLst/>
              <a:rect r="r" b="b" t="t" l="l"/>
              <a:pathLst>
                <a:path h="1442974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26" r="-1" b="-29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789328" y="4493047"/>
            <a:ext cx="1750047" cy="1082269"/>
            <a:chOff x="0" y="0"/>
            <a:chExt cx="2333396" cy="144302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33371" cy="1442974"/>
            </a:xfrm>
            <a:custGeom>
              <a:avLst/>
              <a:gdLst/>
              <a:ahLst/>
              <a:cxnLst/>
              <a:rect r="r" b="b" t="t" l="l"/>
              <a:pathLst>
                <a:path h="1442974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26" r="-1" b="-29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0012813" y="4773035"/>
            <a:ext cx="1205246" cy="55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Distributed</a:t>
            </a:r>
          </a:p>
          <a:p>
            <a:pPr algn="ctr">
              <a:lnSpc>
                <a:spcPts val="2235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 Clusters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789328" y="5564381"/>
            <a:ext cx="1750047" cy="1082269"/>
            <a:chOff x="0" y="0"/>
            <a:chExt cx="2333396" cy="144302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33371" cy="1442974"/>
            </a:xfrm>
            <a:custGeom>
              <a:avLst/>
              <a:gdLst/>
              <a:ahLst/>
              <a:cxnLst/>
              <a:rect r="r" b="b" t="t" l="l"/>
              <a:pathLst>
                <a:path h="1442974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26" r="-1" b="-29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9992763" y="5812231"/>
            <a:ext cx="1245337" cy="55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ClickHouse</a:t>
            </a:r>
          </a:p>
          <a:p>
            <a:pPr algn="ctr">
              <a:lnSpc>
                <a:spcPts val="2235"/>
              </a:lnSpc>
            </a:pPr>
            <a:r>
              <a:rPr lang="en-US" sz="186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 Cloud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8706488" y="3848062"/>
            <a:ext cx="875024" cy="448208"/>
            <a:chOff x="0" y="0"/>
            <a:chExt cx="1166698" cy="59761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66749" cy="597662"/>
            </a:xfrm>
            <a:custGeom>
              <a:avLst/>
              <a:gdLst/>
              <a:ahLst/>
              <a:cxnLst/>
              <a:rect r="r" b="b" t="t" l="l"/>
              <a:pathLst>
                <a:path h="597662" w="1166749">
                  <a:moveTo>
                    <a:pt x="0" y="0"/>
                  </a:moveTo>
                  <a:lnTo>
                    <a:pt x="1166749" y="0"/>
                  </a:lnTo>
                  <a:lnTo>
                    <a:pt x="1166749" y="597662"/>
                  </a:lnTo>
                  <a:lnTo>
                    <a:pt x="0" y="597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-27" r="4" b="-16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144000" y="5783018"/>
            <a:ext cx="437512" cy="655920"/>
            <a:chOff x="0" y="0"/>
            <a:chExt cx="583349" cy="8745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83311" cy="874522"/>
            </a:xfrm>
            <a:custGeom>
              <a:avLst/>
              <a:gdLst/>
              <a:ahLst/>
              <a:cxnLst/>
              <a:rect r="r" b="b" t="t" l="l"/>
              <a:pathLst>
                <a:path h="874522" w="583311">
                  <a:moveTo>
                    <a:pt x="0" y="0"/>
                  </a:moveTo>
                  <a:lnTo>
                    <a:pt x="583311" y="0"/>
                  </a:lnTo>
                  <a:lnTo>
                    <a:pt x="583311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-26" r="-6" b="-31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965953" y="1924031"/>
            <a:ext cx="5895470" cy="1508617"/>
            <a:chOff x="0" y="0"/>
            <a:chExt cx="7860627" cy="201149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860665" cy="2011426"/>
            </a:xfrm>
            <a:custGeom>
              <a:avLst/>
              <a:gdLst/>
              <a:ahLst/>
              <a:cxnLst/>
              <a:rect r="r" b="b" t="t" l="l"/>
              <a:pathLst>
                <a:path h="2011426" w="7860665">
                  <a:moveTo>
                    <a:pt x="0" y="0"/>
                  </a:moveTo>
                  <a:lnTo>
                    <a:pt x="7860665" y="0"/>
                  </a:lnTo>
                  <a:lnTo>
                    <a:pt x="7860665" y="2011426"/>
                  </a:lnTo>
                  <a:lnTo>
                    <a:pt x="0" y="2011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-26" r="0" b="-29"/>
              </a:stretch>
            </a:blip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12349763" y="2715235"/>
            <a:ext cx="5357384" cy="26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9"/>
              </a:lnSpc>
            </a:pPr>
            <a:r>
              <a:rPr lang="en-US" sz="161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Immutable data parts merged in background for efficiency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1965953" y="3214002"/>
            <a:ext cx="5895470" cy="2361305"/>
            <a:chOff x="0" y="0"/>
            <a:chExt cx="7860627" cy="314840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860665" cy="3148457"/>
            </a:xfrm>
            <a:custGeom>
              <a:avLst/>
              <a:gdLst/>
              <a:ahLst/>
              <a:cxnLst/>
              <a:rect r="r" b="b" t="t" l="l"/>
              <a:pathLst>
                <a:path h="3148457" w="7860665">
                  <a:moveTo>
                    <a:pt x="0" y="0"/>
                  </a:moveTo>
                  <a:lnTo>
                    <a:pt x="7860665" y="0"/>
                  </a:lnTo>
                  <a:lnTo>
                    <a:pt x="7860665" y="3148457"/>
                  </a:lnTo>
                  <a:lnTo>
                    <a:pt x="0" y="3148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-26" r="0" b="-25"/>
              </a:stretch>
            </a:blip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12370841" y="4370375"/>
            <a:ext cx="3249301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Granules of 8,192 rows (default)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364955" y="4807144"/>
            <a:ext cx="3837680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Min-max, set, and Bloom filter indexes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1965953" y="5356670"/>
            <a:ext cx="5895470" cy="2153602"/>
            <a:chOff x="0" y="0"/>
            <a:chExt cx="7860627" cy="287147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860665" cy="2871470"/>
            </a:xfrm>
            <a:custGeom>
              <a:avLst/>
              <a:gdLst/>
              <a:ahLst/>
              <a:cxnLst/>
              <a:rect r="r" b="b" t="t" l="l"/>
              <a:pathLst>
                <a:path h="2871470" w="7860665">
                  <a:moveTo>
                    <a:pt x="0" y="0"/>
                  </a:moveTo>
                  <a:lnTo>
                    <a:pt x="7860665" y="0"/>
                  </a:lnTo>
                  <a:lnTo>
                    <a:pt x="7860665" y="2871470"/>
                  </a:lnTo>
                  <a:lnTo>
                    <a:pt x="0" y="2871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-26" r="0" b="-26"/>
              </a:stretch>
            </a:blip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12367193" y="6388532"/>
            <a:ext cx="3614518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LZ4 and ZSTD for storage reduction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352201" y="6855419"/>
            <a:ext cx="5113249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Special codes like Delta for improved compression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1965953" y="7499347"/>
            <a:ext cx="5895470" cy="2579951"/>
            <a:chOff x="0" y="0"/>
            <a:chExt cx="7860627" cy="343993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860665" cy="3439922"/>
            </a:xfrm>
            <a:custGeom>
              <a:avLst/>
              <a:gdLst/>
              <a:ahLst/>
              <a:cxnLst/>
              <a:rect r="r" b="b" t="t" l="l"/>
              <a:pathLst>
                <a:path h="3439922" w="7860665">
                  <a:moveTo>
                    <a:pt x="0" y="0"/>
                  </a:moveTo>
                  <a:lnTo>
                    <a:pt x="7860665" y="0"/>
                  </a:lnTo>
                  <a:lnTo>
                    <a:pt x="7860665" y="3439922"/>
                  </a:lnTo>
                  <a:lnTo>
                    <a:pt x="0" y="3439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-26" r="0" b="-26"/>
              </a:stretch>
            </a:blip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2375947" y="8421738"/>
            <a:ext cx="2739171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Vectorized query execution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381481" y="8873566"/>
            <a:ext cx="2185473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Multi-core parallelism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362659" y="9325394"/>
            <a:ext cx="4067632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Reads only required columns for queries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273007" y="9250089"/>
            <a:ext cx="1255890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3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DATA FLOW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86073" y="9613097"/>
            <a:ext cx="2029758" cy="26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9"/>
              </a:lnSpc>
            </a:pPr>
            <a:r>
              <a:rPr lang="en-US" sz="161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Ingestion and queries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3259465" y="9204731"/>
            <a:ext cx="1312535" cy="655920"/>
            <a:chOff x="0" y="0"/>
            <a:chExt cx="1750047" cy="8745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750060" cy="874522"/>
            </a:xfrm>
            <a:custGeom>
              <a:avLst/>
              <a:gdLst/>
              <a:ahLst/>
              <a:cxnLst/>
              <a:rect r="r" b="b" t="t" l="l"/>
              <a:pathLst>
                <a:path h="874522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-26" r="0" b="-31"/>
              </a:stretch>
            </a:blip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4753108" y="9613097"/>
            <a:ext cx="2434199" cy="26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9"/>
              </a:lnSpc>
            </a:pPr>
            <a:r>
              <a:rPr lang="en-US" sz="161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Processing and execution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7393953" y="9204731"/>
            <a:ext cx="1323470" cy="655920"/>
            <a:chOff x="0" y="0"/>
            <a:chExt cx="1764627" cy="87456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764665" cy="874522"/>
            </a:xfrm>
            <a:custGeom>
              <a:avLst/>
              <a:gdLst/>
              <a:ahLst/>
              <a:cxnLst/>
              <a:rect r="r" b="b" t="t" l="l"/>
              <a:pathLst>
                <a:path h="874522" w="1764665">
                  <a:moveTo>
                    <a:pt x="0" y="0"/>
                  </a:moveTo>
                  <a:lnTo>
                    <a:pt x="1764665" y="0"/>
                  </a:lnTo>
                  <a:lnTo>
                    <a:pt x="1764665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0" t="-26" r="2" b="-31"/>
              </a:stretch>
            </a:blipFill>
          </p:spPr>
        </p:sp>
      </p:grpSp>
      <p:sp>
        <p:nvSpPr>
          <p:cNvPr name="TextBox 90" id="90"/>
          <p:cNvSpPr txBox="true"/>
          <p:nvPr/>
        </p:nvSpPr>
        <p:spPr>
          <a:xfrm rot="0">
            <a:off x="9115425" y="9250089"/>
            <a:ext cx="1627880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3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RESULTS FLOW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8788956" y="9613097"/>
            <a:ext cx="2464803" cy="26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9"/>
              </a:lnSpc>
            </a:pPr>
            <a:r>
              <a:rPr lang="en-US" sz="161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Results returned to clients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2403341" y="3784063"/>
            <a:ext cx="5357812" cy="34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87" b="true">
                <a:solidFill>
                  <a:srgbClr val="2C78D6"/>
                </a:solidFill>
                <a:latin typeface="Roboto Bold"/>
                <a:ea typeface="Roboto Bold"/>
                <a:cs typeface="Roboto Bold"/>
                <a:sym typeface="Roboto Bold"/>
              </a:rPr>
              <a:t>SPARSE PRIMARY INDEXES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3696891" y="2955712"/>
            <a:ext cx="5063138" cy="34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187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CLICKHOUSE SERVER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2403341" y="2232793"/>
            <a:ext cx="5357812" cy="34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87" b="true">
                <a:solidFill>
                  <a:srgbClr val="2C78D6"/>
                </a:solidFill>
                <a:latin typeface="Roboto Bold"/>
                <a:ea typeface="Roboto Bold"/>
                <a:cs typeface="Roboto Bold"/>
                <a:sym typeface="Roboto Bold"/>
              </a:rPr>
              <a:t>MERGETREE STORAGE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403341" y="7865555"/>
            <a:ext cx="5357812" cy="34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87" b="true">
                <a:solidFill>
                  <a:srgbClr val="2C78D6"/>
                </a:solidFill>
                <a:latin typeface="Roboto Bold"/>
                <a:ea typeface="Roboto Bold"/>
                <a:cs typeface="Roboto Bold"/>
                <a:sym typeface="Roboto Bold"/>
              </a:rPr>
              <a:t>EXECUTION ENGINE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2403341" y="5817279"/>
            <a:ext cx="5357812" cy="34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87" b="true">
                <a:solidFill>
                  <a:srgbClr val="2C78D6"/>
                </a:solidFill>
                <a:latin typeface="Roboto Bold"/>
                <a:ea typeface="Roboto Bold"/>
                <a:cs typeface="Roboto Bold"/>
                <a:sym typeface="Roboto Bold"/>
              </a:rPr>
              <a:t>COMPRESSION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8813606" y="3031017"/>
            <a:ext cx="3696891" cy="34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187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DEPLOYMENT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279307" y="9250089"/>
            <a:ext cx="1381811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3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QUERY FLOW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933032" y="3933615"/>
            <a:ext cx="1364809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3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Single Server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975246" y="3933615"/>
            <a:ext cx="1281341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3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Applications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535781" y="3031017"/>
            <a:ext cx="2223487" cy="34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187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CLIENTS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617054" cy="10472093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1758136" cy="10287000"/>
            <a:chOff x="0" y="0"/>
            <a:chExt cx="15677515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7751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5677514">
                  <a:moveTo>
                    <a:pt x="0" y="0"/>
                  </a:moveTo>
                  <a:lnTo>
                    <a:pt x="15677514" y="0"/>
                  </a:lnTo>
                  <a:lnTo>
                    <a:pt x="1567751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49707" y="891569"/>
            <a:ext cx="6644116" cy="183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b="true">
                <a:solidFill>
                  <a:srgbClr val="F6F8FA"/>
                </a:solidFill>
                <a:latin typeface="Roboto Bold"/>
                <a:ea typeface="Roboto Bold"/>
                <a:cs typeface="Roboto Bold"/>
                <a:sym typeface="Roboto Bold"/>
              </a:rPr>
              <a:t>Scaling and Core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26577" y="2995365"/>
            <a:ext cx="2406320" cy="229572"/>
            <a:chOff x="0" y="0"/>
            <a:chExt cx="3208426" cy="3060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08401" cy="306070"/>
            </a:xfrm>
            <a:custGeom>
              <a:avLst/>
              <a:gdLst/>
              <a:ahLst/>
              <a:cxnLst/>
              <a:rect r="r" b="b" t="t" l="l"/>
              <a:pathLst>
                <a:path h="306070" w="3208401">
                  <a:moveTo>
                    <a:pt x="0" y="0"/>
                  </a:moveTo>
                  <a:lnTo>
                    <a:pt x="3208401" y="0"/>
                  </a:lnTo>
                  <a:lnTo>
                    <a:pt x="3208401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" r="0" b="-3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93760" y="3403854"/>
            <a:ext cx="4918034" cy="52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6" b="true">
                <a:solidFill>
                  <a:srgbClr val="0F68E8"/>
                </a:solidFill>
                <a:latin typeface="Roboto Bold"/>
                <a:ea typeface="Roboto Bold"/>
                <a:cs typeface="Roboto Bold"/>
                <a:sym typeface="Roboto Bold"/>
              </a:rPr>
              <a:t>SCALE OUT WITH CONFIDENCE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6416" y="3870960"/>
            <a:ext cx="5652564" cy="921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0" spc="-45">
                <a:solidFill>
                  <a:srgbClr val="FFFFFF">
                    <a:alpha val="8431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Distributed tables, ReplicatedMergeTree, and ClickHouse Keeper for resilience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7047" y="5015370"/>
            <a:ext cx="3588944" cy="52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6" b="true">
                <a:solidFill>
                  <a:srgbClr val="0F68E8"/>
                </a:solidFill>
                <a:latin typeface="Roboto Bold"/>
                <a:ea typeface="Roboto Bold"/>
                <a:cs typeface="Roboto Bold"/>
                <a:sym typeface="Roboto Bold"/>
              </a:rPr>
              <a:t>BUILT FOR ANALYTICS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1683" y="5467417"/>
            <a:ext cx="5125536" cy="921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0" spc="-45">
                <a:solidFill>
                  <a:srgbClr val="FFFFFF">
                    <a:alpha val="8431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Powerful SQL with arrays, quantiles,</a:t>
            </a:r>
          </a:p>
          <a:p>
            <a:pPr algn="l">
              <a:lnSpc>
                <a:spcPts val="3467"/>
              </a:lnSpc>
            </a:pPr>
            <a:r>
              <a:rPr lang="en-US" sz="2310" spc="-45">
                <a:solidFill>
                  <a:srgbClr val="FFFFFF">
                    <a:alpha val="8431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time functions, and window functions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1686" y="6611817"/>
            <a:ext cx="3125362" cy="52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6" b="true">
                <a:solidFill>
                  <a:srgbClr val="0F68E8"/>
                </a:solidFill>
                <a:latin typeface="Roboto Bold"/>
                <a:ea typeface="Roboto Bold"/>
                <a:cs typeface="Roboto Bold"/>
                <a:sym typeface="Roboto Bold"/>
              </a:rPr>
              <a:t>SECURE BY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5121" y="7078923"/>
            <a:ext cx="5781589" cy="921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0" spc="-45">
                <a:solidFill>
                  <a:srgbClr val="FFFFFF">
                    <a:alpha val="8431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RBAC, row-level security, TLS encryption, and LDAP integration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0924" y="8223323"/>
            <a:ext cx="3201095" cy="52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6" b="true">
                <a:solidFill>
                  <a:srgbClr val="0F68E8"/>
                </a:solidFill>
                <a:latin typeface="Roboto Bold"/>
                <a:ea typeface="Roboto Bold"/>
                <a:cs typeface="Roboto Bold"/>
                <a:sym typeface="Roboto Bold"/>
              </a:rPr>
              <a:t>ECOSYSTEM READY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3919" y="8675370"/>
            <a:ext cx="6901558" cy="921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0" spc="-45">
                <a:solidFill>
                  <a:srgbClr val="FFFFFF">
                    <a:alpha val="8431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Connects with Kafka, Amazon S3, MySQL, PostgreSQL, Grafana, Superset, Python, and Java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22707" cy="10700273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55908" y="842343"/>
            <a:ext cx="6023639" cy="80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b="true" sz="7124" spc="-141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Future Trends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7020" y="1950053"/>
            <a:ext cx="7913322" cy="37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spc="-63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Verified developments shaping ClickHouse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26577" y="2776728"/>
            <a:ext cx="10248719" cy="1945891"/>
            <a:chOff x="0" y="0"/>
            <a:chExt cx="13664959" cy="25945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64946" cy="2594483"/>
            </a:xfrm>
            <a:custGeom>
              <a:avLst/>
              <a:gdLst/>
              <a:ahLst/>
              <a:cxnLst/>
              <a:rect r="r" b="b" t="t" l="l"/>
              <a:pathLst>
                <a:path h="2594483" w="13664946">
                  <a:moveTo>
                    <a:pt x="0" y="0"/>
                  </a:moveTo>
                  <a:lnTo>
                    <a:pt x="13664946" y="0"/>
                  </a:lnTo>
                  <a:lnTo>
                    <a:pt x="13664946" y="2594483"/>
                  </a:lnTo>
                  <a:lnTo>
                    <a:pt x="0" y="2594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25135" y="3484683"/>
            <a:ext cx="1248137" cy="33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b="true" sz="1916" spc="-38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RELEASED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21825" y="3426990"/>
            <a:ext cx="2681307" cy="27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6"/>
              </a:lnSpc>
            </a:pPr>
            <a:r>
              <a:rPr lang="en-US" b="true" sz="2486" spc="-49">
                <a:solidFill>
                  <a:srgbClr val="1570E1"/>
                </a:solidFill>
                <a:latin typeface="Roboto Bold"/>
                <a:ea typeface="Roboto Bold"/>
                <a:cs typeface="Roboto Bold"/>
                <a:sym typeface="Roboto Bold"/>
              </a:rPr>
              <a:t>ClickHouse Cloud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8638" y="3923462"/>
            <a:ext cx="6884784" cy="24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 spc="-43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managed cloud-native analytics platform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26577" y="4493047"/>
            <a:ext cx="10248719" cy="1945891"/>
            <a:chOff x="0" y="0"/>
            <a:chExt cx="13664959" cy="25945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64946" cy="2594483"/>
            </a:xfrm>
            <a:custGeom>
              <a:avLst/>
              <a:gdLst/>
              <a:ahLst/>
              <a:cxnLst/>
              <a:rect r="r" b="b" t="t" l="l"/>
              <a:pathLst>
                <a:path h="2594483" w="13664946">
                  <a:moveTo>
                    <a:pt x="0" y="0"/>
                  </a:moveTo>
                  <a:lnTo>
                    <a:pt x="13664946" y="0"/>
                  </a:lnTo>
                  <a:lnTo>
                    <a:pt x="13664946" y="2594483"/>
                  </a:lnTo>
                  <a:lnTo>
                    <a:pt x="0" y="2594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0" b="-2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19182" y="5201622"/>
            <a:ext cx="1843697" cy="6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b="true" sz="1916" spc="-38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UNDER DEVELOPMENT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10176" y="5219224"/>
            <a:ext cx="3845547" cy="27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6"/>
              </a:lnSpc>
            </a:pPr>
            <a:r>
              <a:rPr lang="en-US" b="true" sz="2486" spc="-49">
                <a:solidFill>
                  <a:srgbClr val="1570E1"/>
                </a:solidFill>
                <a:latin typeface="Roboto Bold"/>
                <a:ea typeface="Roboto Bold"/>
                <a:cs typeface="Roboto Bold"/>
                <a:sym typeface="Roboto Bold"/>
              </a:rPr>
              <a:t>Stronger core capabilities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48638" y="5730764"/>
            <a:ext cx="6884784" cy="24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 spc="-43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better support for updates, deletes, and joins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26577" y="6428013"/>
            <a:ext cx="10248719" cy="2153602"/>
            <a:chOff x="0" y="0"/>
            <a:chExt cx="13664959" cy="28714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664946" cy="2871470"/>
            </a:xfrm>
            <a:custGeom>
              <a:avLst/>
              <a:gdLst/>
              <a:ahLst/>
              <a:cxnLst/>
              <a:rect r="r" b="b" t="t" l="l"/>
              <a:pathLst>
                <a:path h="2871470" w="13664946">
                  <a:moveTo>
                    <a:pt x="0" y="0"/>
                  </a:moveTo>
                  <a:lnTo>
                    <a:pt x="13664946" y="0"/>
                  </a:lnTo>
                  <a:lnTo>
                    <a:pt x="13664946" y="2871470"/>
                  </a:lnTo>
                  <a:lnTo>
                    <a:pt x="0" y="2871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0" b="-26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20858" y="7114346"/>
            <a:ext cx="1675828" cy="6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b="true" sz="1916" spc="-38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FUTURE POSSIBILITIES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48638" y="7402516"/>
            <a:ext cx="6884784" cy="24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b="true" sz="2187" spc="-43">
                <a:solidFill>
                  <a:srgbClr val="1570E1"/>
                </a:solidFill>
                <a:latin typeface="Roboto Bold"/>
                <a:ea typeface="Roboto Bold"/>
                <a:cs typeface="Roboto Bold"/>
                <a:sym typeface="Roboto Bold"/>
              </a:rPr>
              <a:t>Enhanced JSON and semi-structured data support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48638" y="7914589"/>
            <a:ext cx="6884784" cy="24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 spc="-43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exploring next-generation analytics experiences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26577" y="8570681"/>
            <a:ext cx="10248719" cy="1082269"/>
            <a:chOff x="0" y="0"/>
            <a:chExt cx="13664959" cy="14430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664946" cy="1442974"/>
            </a:xfrm>
            <a:custGeom>
              <a:avLst/>
              <a:gdLst/>
              <a:ahLst/>
              <a:cxnLst/>
              <a:rect r="r" b="b" t="t" l="l"/>
              <a:pathLst>
                <a:path h="1442974" w="13664946">
                  <a:moveTo>
                    <a:pt x="0" y="0"/>
                  </a:moveTo>
                  <a:lnTo>
                    <a:pt x="13664946" y="0"/>
                  </a:lnTo>
                  <a:lnTo>
                    <a:pt x="13664946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0" b="-29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58241" y="9096947"/>
            <a:ext cx="7937868" cy="20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spc="-34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Source: official ClickHouse documentation, changelogs, and release notes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48638" y="6875393"/>
            <a:ext cx="6884784" cy="24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b="true" sz="2187" spc="-43">
                <a:solidFill>
                  <a:srgbClr val="1570E1"/>
                </a:solidFill>
                <a:latin typeface="Roboto Bold"/>
                <a:ea typeface="Roboto Bold"/>
                <a:cs typeface="Roboto Bold"/>
                <a:sym typeface="Roboto Bold"/>
              </a:rPr>
              <a:t>Vector search and AI integration </a:t>
            </a:r>
            <a:r>
              <a:rPr lang="en-US" sz="2187" spc="-43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prospects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595295" cy="10459854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32514" y="534876"/>
            <a:ext cx="8363598" cy="169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8"/>
              </a:lnSpc>
            </a:pPr>
            <a:r>
              <a:rPr lang="en-US" b="true" sz="6246" spc="-186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Strengths, Limitations, and Comparison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26577" y="2350379"/>
            <a:ext cx="8936184" cy="874557"/>
            <a:chOff x="0" y="0"/>
            <a:chExt cx="11914911" cy="11660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14886" cy="1166114"/>
            </a:xfrm>
            <a:custGeom>
              <a:avLst/>
              <a:gdLst/>
              <a:ahLst/>
              <a:cxnLst/>
              <a:rect r="r" b="b" t="t" l="l"/>
              <a:pathLst>
                <a:path h="1166114" w="11914886">
                  <a:moveTo>
                    <a:pt x="0" y="0"/>
                  </a:moveTo>
                  <a:lnTo>
                    <a:pt x="11914886" y="0"/>
                  </a:lnTo>
                  <a:lnTo>
                    <a:pt x="11914886" y="1166114"/>
                  </a:lnTo>
                  <a:lnTo>
                    <a:pt x="0" y="1166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949322" y="2713701"/>
            <a:ext cx="1545927" cy="27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b="true" sz="1916" spc="-57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CLICKHOUSE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96748" y="2713701"/>
            <a:ext cx="830163" cy="29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b="true" sz="1916" spc="-57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MYSQL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26577" y="2995365"/>
            <a:ext cx="8936184" cy="5586241"/>
            <a:chOff x="0" y="0"/>
            <a:chExt cx="11914911" cy="7448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914886" cy="7448296"/>
            </a:xfrm>
            <a:custGeom>
              <a:avLst/>
              <a:gdLst/>
              <a:ahLst/>
              <a:cxnLst/>
              <a:rect r="r" b="b" t="t" l="l"/>
              <a:pathLst>
                <a:path h="7448296" w="11914886">
                  <a:moveTo>
                    <a:pt x="0" y="0"/>
                  </a:moveTo>
                  <a:lnTo>
                    <a:pt x="11914886" y="0"/>
                  </a:lnTo>
                  <a:lnTo>
                    <a:pt x="11914886" y="7448296"/>
                  </a:lnTo>
                  <a:lnTo>
                    <a:pt x="0" y="7448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0" b="-2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09463" y="4641475"/>
            <a:ext cx="2099586" cy="49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b="true" sz="1739" spc="-50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Large aggregations</a:t>
            </a:r>
          </a:p>
          <a:p>
            <a:pPr algn="l">
              <a:lnSpc>
                <a:spcPts val="2088"/>
              </a:lnSpc>
            </a:pPr>
            <a:r>
              <a:rPr lang="en-US" b="true" sz="1739" spc="-50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and analytical scans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8806" y="5484876"/>
            <a:ext cx="2165604" cy="49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b="true" sz="1739" spc="-50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Single-row updates / deletes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6939" y="6328286"/>
            <a:ext cx="2352199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b="true" sz="1739" spc="-50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Transactions and ACID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7482" y="6930723"/>
            <a:ext cx="2297735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b="true" sz="1739" spc="-50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Joins and optimization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58333" y="3376374"/>
            <a:ext cx="644614" cy="27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b="true" sz="1916" spc="-57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OLAP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48170" y="6840360"/>
            <a:ext cx="1660931" cy="49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39" spc="-5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Improving, some</a:t>
            </a:r>
          </a:p>
          <a:p>
            <a:pPr algn="l">
              <a:lnSpc>
                <a:spcPts val="2088"/>
              </a:lnSpc>
            </a:pPr>
            <a:r>
              <a:rPr lang="en-US" sz="1739" spc="-5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challenges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41026" y="7498356"/>
            <a:ext cx="2375154" cy="669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4"/>
              </a:lnSpc>
            </a:pPr>
            <a:r>
              <a:rPr lang="en-US" b="true" sz="1616" spc="-79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Sharding and replication; distributed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01463" y="5530063"/>
            <a:ext cx="1543564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b="true" sz="1739" spc="-50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Highly efficient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95148" y="6328286"/>
            <a:ext cx="2174824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b="true" sz="1739" spc="-50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Full ACID compliance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97253" y="7547172"/>
            <a:ext cx="1964855" cy="60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3"/>
              </a:lnSpc>
            </a:pPr>
            <a:r>
              <a:rPr lang="en-US" sz="1695" spc="-49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Replication; scalable</a:t>
            </a:r>
          </a:p>
          <a:p>
            <a:pPr algn="l">
              <a:lnSpc>
                <a:spcPts val="2373"/>
              </a:lnSpc>
            </a:pPr>
            <a:r>
              <a:rPr lang="en-US" sz="1695" spc="-49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with effort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570577" y="1497682"/>
            <a:ext cx="8290855" cy="3432648"/>
            <a:chOff x="0" y="0"/>
            <a:chExt cx="11054474" cy="45768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54461" cy="4576826"/>
            </a:xfrm>
            <a:custGeom>
              <a:avLst/>
              <a:gdLst/>
              <a:ahLst/>
              <a:cxnLst/>
              <a:rect r="r" b="b" t="t" l="l"/>
              <a:pathLst>
                <a:path h="4576826" w="11054461">
                  <a:moveTo>
                    <a:pt x="0" y="0"/>
                  </a:moveTo>
                  <a:lnTo>
                    <a:pt x="11054461" y="0"/>
                  </a:lnTo>
                  <a:lnTo>
                    <a:pt x="11054461" y="4576826"/>
                  </a:lnTo>
                  <a:lnTo>
                    <a:pt x="0" y="4576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0" b="-27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854622" y="1945596"/>
            <a:ext cx="3054239" cy="27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b="true" sz="1916" spc="-57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CLICKHOUSE STRENGTHS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51393" y="2249443"/>
            <a:ext cx="3377508" cy="224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9"/>
              </a:lnSpc>
            </a:pPr>
            <a:r>
              <a:rPr lang="en-US" b="true" sz="1809" spc="-52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Fast</a:t>
            </a:r>
            <a:r>
              <a:rPr lang="en-US" sz="1809" spc="-5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 scans and aggregations</a:t>
            </a:r>
          </a:p>
          <a:p>
            <a:pPr algn="l">
              <a:lnSpc>
                <a:spcPts val="3439"/>
              </a:lnSpc>
            </a:pPr>
            <a:r>
              <a:rPr lang="en-US" b="true" sz="1809" spc="-52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High</a:t>
            </a:r>
            <a:r>
              <a:rPr lang="en-US" sz="1809" spc="-5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 compression efficiency</a:t>
            </a:r>
          </a:p>
          <a:p>
            <a:pPr algn="l">
              <a:lnSpc>
                <a:spcPts val="3439"/>
              </a:lnSpc>
            </a:pPr>
            <a:r>
              <a:rPr lang="en-US" b="true" sz="1809" spc="-52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Scales</a:t>
            </a:r>
            <a:r>
              <a:rPr lang="en-US" sz="1809" spc="-5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 to massive data volumes</a:t>
            </a:r>
          </a:p>
          <a:p>
            <a:pPr algn="l">
              <a:lnSpc>
                <a:spcPts val="3439"/>
              </a:lnSpc>
            </a:pPr>
            <a:r>
              <a:rPr lang="en-US" b="true" sz="1809" spc="-52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Open source</a:t>
            </a:r>
            <a:r>
              <a:rPr lang="en-US" sz="1809" spc="-5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 and cost-effective</a:t>
            </a:r>
          </a:p>
          <a:p>
            <a:pPr algn="l">
              <a:lnSpc>
                <a:spcPts val="3439"/>
              </a:lnSpc>
            </a:pPr>
            <a:r>
              <a:rPr lang="en-US" sz="1809" spc="-5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Supports </a:t>
            </a:r>
            <a:r>
              <a:rPr lang="en-US" b="true" sz="1809" spc="-52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standard SQL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38155" y="1945596"/>
            <a:ext cx="3142469" cy="27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b="true" sz="1916" spc="-57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CLICKHOUSE LIMITATIONS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30488" y="2268836"/>
            <a:ext cx="3909098" cy="1735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6"/>
              </a:lnSpc>
            </a:pPr>
            <a:r>
              <a:rPr lang="en-US" b="true" sz="1739" spc="-50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Less</a:t>
            </a:r>
            <a:r>
              <a:rPr lang="en-US" sz="1739" spc="-5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 suitable for OLTP workloads</a:t>
            </a:r>
          </a:p>
          <a:p>
            <a:pPr algn="l">
              <a:lnSpc>
                <a:spcPts val="3306"/>
              </a:lnSpc>
            </a:pPr>
            <a:r>
              <a:rPr lang="en-US" b="true" sz="1739" spc="-50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Mutations</a:t>
            </a:r>
            <a:r>
              <a:rPr lang="en-US" sz="1739" spc="-5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 can be costly</a:t>
            </a:r>
          </a:p>
          <a:p>
            <a:pPr algn="l">
              <a:lnSpc>
                <a:spcPts val="3306"/>
              </a:lnSpc>
            </a:pPr>
            <a:r>
              <a:rPr lang="en-US" b="true" sz="1739" spc="-50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Join</a:t>
            </a:r>
            <a:r>
              <a:rPr lang="en-US" sz="1739" spc="-5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 optimization can be challenging</a:t>
            </a:r>
          </a:p>
          <a:p>
            <a:pPr algn="l">
              <a:lnSpc>
                <a:spcPts val="3306"/>
              </a:lnSpc>
            </a:pPr>
            <a:r>
              <a:rPr lang="en-US" b="true" sz="1739" spc="-50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Sorting-key</a:t>
            </a:r>
            <a:r>
              <a:rPr lang="en-US" sz="1739" spc="-5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 design requires trade-offs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570577" y="4919396"/>
            <a:ext cx="8290855" cy="3662220"/>
            <a:chOff x="0" y="0"/>
            <a:chExt cx="11054474" cy="4882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54461" cy="4882896"/>
            </a:xfrm>
            <a:custGeom>
              <a:avLst/>
              <a:gdLst/>
              <a:ahLst/>
              <a:cxnLst/>
              <a:rect r="r" b="b" t="t" l="l"/>
              <a:pathLst>
                <a:path h="4882896" w="11054461">
                  <a:moveTo>
                    <a:pt x="0" y="0"/>
                  </a:moveTo>
                  <a:lnTo>
                    <a:pt x="11054461" y="0"/>
                  </a:lnTo>
                  <a:lnTo>
                    <a:pt x="11054461" y="4882896"/>
                  </a:lnTo>
                  <a:lnTo>
                    <a:pt x="0" y="488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0" b="-27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825123" y="5258981"/>
            <a:ext cx="6003846" cy="27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b="true" sz="1916" spc="-57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COMPARISON WITH OTHER ANALYTICAL SYSTEMS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570577" y="5564381"/>
            <a:ext cx="2625071" cy="1082269"/>
            <a:chOff x="0" y="0"/>
            <a:chExt cx="3500095" cy="14430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00120" cy="1442974"/>
            </a:xfrm>
            <a:custGeom>
              <a:avLst/>
              <a:gdLst/>
              <a:ahLst/>
              <a:cxnLst/>
              <a:rect r="r" b="b" t="t" l="l"/>
              <a:pathLst>
                <a:path h="1442974" w="3500120">
                  <a:moveTo>
                    <a:pt x="0" y="0"/>
                  </a:moveTo>
                  <a:lnTo>
                    <a:pt x="3500120" y="0"/>
                  </a:lnTo>
                  <a:lnTo>
                    <a:pt x="3500120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0" b="-29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867328" y="5996959"/>
            <a:ext cx="1783090" cy="27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b="true" sz="1916" spc="-57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APACHE DRUID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48979" y="5815174"/>
            <a:ext cx="4719695" cy="60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3"/>
              </a:lnSpc>
            </a:pPr>
            <a:r>
              <a:rPr lang="en-US" sz="1695" spc="-49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Real-time ingestion and low-latency dashboards; less ad hoc SQL flexibility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70577" y="6428013"/>
            <a:ext cx="2625071" cy="863632"/>
            <a:chOff x="0" y="0"/>
            <a:chExt cx="3500095" cy="11515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00120" cy="1151509"/>
            </a:xfrm>
            <a:custGeom>
              <a:avLst/>
              <a:gdLst/>
              <a:ahLst/>
              <a:cxnLst/>
              <a:rect r="r" b="b" t="t" l="l"/>
              <a:pathLst>
                <a:path h="1151509" w="3500120">
                  <a:moveTo>
                    <a:pt x="0" y="0"/>
                  </a:moveTo>
                  <a:lnTo>
                    <a:pt x="3500120" y="0"/>
                  </a:lnTo>
                  <a:lnTo>
                    <a:pt x="3500120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6" r="0" b="-26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867309" y="6734947"/>
            <a:ext cx="1785280" cy="27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b="true" sz="1916" spc="-57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APACHE PINOT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46426" y="6658585"/>
            <a:ext cx="4975498" cy="31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3"/>
              </a:lnSpc>
            </a:pPr>
            <a:r>
              <a:rPr lang="en-US" sz="1695" spc="-49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Real-time analytics at scale; insert-heavy use cases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570577" y="7062064"/>
            <a:ext cx="2625071" cy="874557"/>
            <a:chOff x="0" y="0"/>
            <a:chExt cx="3500095" cy="11660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500120" cy="1166114"/>
            </a:xfrm>
            <a:custGeom>
              <a:avLst/>
              <a:gdLst/>
              <a:ahLst/>
              <a:cxnLst/>
              <a:rect r="r" b="b" t="t" l="l"/>
              <a:pathLst>
                <a:path h="1166114" w="3500120">
                  <a:moveTo>
                    <a:pt x="0" y="0"/>
                  </a:moveTo>
                  <a:lnTo>
                    <a:pt x="3500120" y="0"/>
                  </a:lnTo>
                  <a:lnTo>
                    <a:pt x="3500120" y="1166114"/>
                  </a:lnTo>
                  <a:lnTo>
                    <a:pt x="0" y="1166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6" r="0" b="-23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869900" y="7352443"/>
            <a:ext cx="1526515" cy="27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b="true" sz="1916" spc="-57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SNOWFLAKE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245388" y="7291140"/>
            <a:ext cx="5078987" cy="31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3"/>
              </a:lnSpc>
            </a:pPr>
            <a:r>
              <a:rPr lang="en-US" sz="1695" spc="-49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Fully managed cloud; separate compute and storage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570577" y="7707049"/>
            <a:ext cx="2625071" cy="874557"/>
            <a:chOff x="0" y="0"/>
            <a:chExt cx="3500095" cy="116607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500120" cy="1166114"/>
            </a:xfrm>
            <a:custGeom>
              <a:avLst/>
              <a:gdLst/>
              <a:ahLst/>
              <a:cxnLst/>
              <a:rect r="r" b="b" t="t" l="l"/>
              <a:pathLst>
                <a:path h="1166114" w="3500120">
                  <a:moveTo>
                    <a:pt x="0" y="0"/>
                  </a:moveTo>
                  <a:lnTo>
                    <a:pt x="3500120" y="0"/>
                  </a:lnTo>
                  <a:lnTo>
                    <a:pt x="3500120" y="1166114"/>
                  </a:lnTo>
                  <a:lnTo>
                    <a:pt x="0" y="1166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6" r="0" b="-23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2252741" y="7908636"/>
            <a:ext cx="4343771" cy="31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3"/>
              </a:lnSpc>
            </a:pPr>
            <a:r>
              <a:rPr lang="en-US" sz="1695" spc="-49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Serverless, tightly integrated in Google Cloud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05644" y="7623515"/>
            <a:ext cx="2482225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b="true" sz="1739" spc="-50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Scaling and architecture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12492" y="3376365"/>
            <a:ext cx="1797072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b="true" sz="1739" spc="-50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Primary workload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947293" y="4008920"/>
            <a:ext cx="1748285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b="true" sz="1739" spc="-50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Column-oriented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950075" y="4656534"/>
            <a:ext cx="1471108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b="true" sz="1739" spc="-50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Extremely fast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17397" y="4008920"/>
            <a:ext cx="1306068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b="true" sz="1739" spc="-50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Data storage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601797" y="6930723"/>
            <a:ext cx="1510227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b="true" sz="1739" spc="-50">
                <a:solidFill>
                  <a:srgbClr val="1879EB"/>
                </a:solidFill>
                <a:latin typeface="Roboto Bold"/>
                <a:ea typeface="Roboto Bold"/>
                <a:cs typeface="Roboto Bold"/>
                <a:sym typeface="Roboto Bold"/>
              </a:rPr>
              <a:t>Mature, robust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603311" y="4008920"/>
            <a:ext cx="1358417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39" spc="-5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Row-oriented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951551" y="5530063"/>
            <a:ext cx="1322956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39" spc="-5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Less efficient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872929" y="7984988"/>
            <a:ext cx="1223562" cy="27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b="true" sz="1916" spc="-57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BIGQUERY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957533" y="6328286"/>
            <a:ext cx="724938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39" spc="-5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Limited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610026" y="4656534"/>
            <a:ext cx="687486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39" spc="-5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Slower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3941" y="2713701"/>
            <a:ext cx="651777" cy="27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b="true" sz="1916" spc="-57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AREA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611274" y="3376365"/>
            <a:ext cx="562461" cy="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39" spc="-5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OLTP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49148" cy="10602646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55527" y="584121"/>
            <a:ext cx="8740769" cy="179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7"/>
              </a:lnSpc>
            </a:pPr>
            <a:r>
              <a:rPr lang="en-US" sz="6617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Use Cases and</a:t>
            </a:r>
          </a:p>
          <a:p>
            <a:pPr algn="l">
              <a:lnSpc>
                <a:spcPts val="7277"/>
              </a:lnSpc>
            </a:pPr>
            <a:r>
              <a:rPr lang="en-US" sz="6617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Real-World Adoption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5328" y="3421713"/>
            <a:ext cx="4801695" cy="874557"/>
            <a:chOff x="0" y="0"/>
            <a:chExt cx="6402260" cy="11660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2197" cy="1166114"/>
            </a:xfrm>
            <a:custGeom>
              <a:avLst/>
              <a:gdLst/>
              <a:ahLst/>
              <a:cxnLst/>
              <a:rect r="r" b="b" t="t" l="l"/>
              <a:pathLst>
                <a:path h="1166114" w="6402197">
                  <a:moveTo>
                    <a:pt x="0" y="0"/>
                  </a:moveTo>
                  <a:lnTo>
                    <a:pt x="6402197" y="0"/>
                  </a:lnTo>
                  <a:lnTo>
                    <a:pt x="6402197" y="1166114"/>
                  </a:lnTo>
                  <a:lnTo>
                    <a:pt x="0" y="1166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53614" y="3556483"/>
            <a:ext cx="3758336" cy="49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b="true" sz="1923" spc="-3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BUILT FOR REAL-WORLD DATA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45328" y="4066699"/>
            <a:ext cx="4801695" cy="4941256"/>
            <a:chOff x="0" y="0"/>
            <a:chExt cx="6402260" cy="65883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2197" cy="6588379"/>
            </a:xfrm>
            <a:custGeom>
              <a:avLst/>
              <a:gdLst/>
              <a:ahLst/>
              <a:cxnLst/>
              <a:rect r="r" b="b" t="t" l="l"/>
              <a:pathLst>
                <a:path h="6588379" w="6402197">
                  <a:moveTo>
                    <a:pt x="0" y="0"/>
                  </a:moveTo>
                  <a:lnTo>
                    <a:pt x="6402197" y="0"/>
                  </a:lnTo>
                  <a:lnTo>
                    <a:pt x="6402197" y="6588379"/>
                  </a:lnTo>
                  <a:lnTo>
                    <a:pt x="0" y="6588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0" b="-2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02094" y="4451090"/>
            <a:ext cx="3551987" cy="776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b="true" sz="2046" spc="-39">
                <a:solidFill>
                  <a:srgbClr val="1775E3"/>
                </a:solidFill>
                <a:latin typeface="Roboto Bold"/>
                <a:ea typeface="Roboto Bold"/>
                <a:cs typeface="Roboto Bold"/>
                <a:sym typeface="Roboto Bold"/>
              </a:rPr>
              <a:t>Web and product analytics</a:t>
            </a:r>
            <a:r>
              <a:rPr lang="en-US" sz="2046" spc="-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| Yandex.Metrica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6742" y="5475227"/>
            <a:ext cx="3087405" cy="776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b="true" sz="2046" spc="-39">
                <a:solidFill>
                  <a:srgbClr val="1775E3"/>
                </a:solidFill>
                <a:latin typeface="Roboto Bold"/>
                <a:ea typeface="Roboto Bold"/>
                <a:cs typeface="Roboto Bold"/>
                <a:sym typeface="Roboto Bold"/>
              </a:rPr>
              <a:t>Logs and observability</a:t>
            </a:r>
            <a:r>
              <a:rPr lang="en-US" sz="2046" spc="-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</a:p>
          <a:p>
            <a:pPr algn="l">
              <a:lnSpc>
                <a:spcPts val="2866"/>
              </a:lnSpc>
            </a:pPr>
            <a:r>
              <a:rPr lang="en-US" sz="2046" spc="-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Uber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4874" y="6484306"/>
            <a:ext cx="4274515" cy="776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b="true" sz="2046" spc="-39">
                <a:solidFill>
                  <a:srgbClr val="1775E3"/>
                </a:solidFill>
                <a:latin typeface="Roboto Bold"/>
                <a:ea typeface="Roboto Bold"/>
                <a:cs typeface="Roboto Bold"/>
                <a:sym typeface="Roboto Bold"/>
              </a:rPr>
              <a:t>Large-scale analytics</a:t>
            </a:r>
            <a:r>
              <a:rPr lang="en-US" sz="2046" spc="-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| Cloudflare, eBay, GitLab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0503" y="7493375"/>
            <a:ext cx="3711778" cy="113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b="true" sz="2046" spc="-39">
                <a:solidFill>
                  <a:srgbClr val="1775E3"/>
                </a:solidFill>
                <a:latin typeface="Roboto Bold"/>
                <a:ea typeface="Roboto Bold"/>
                <a:cs typeface="Roboto Bold"/>
                <a:sym typeface="Roboto Bold"/>
              </a:rPr>
              <a:t>IoT and sensor data, ad-tech, finance, monitoring, and HTTP/DNS analytics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03573" y="3420932"/>
            <a:ext cx="3644456" cy="49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b="true" sz="1923" spc="-3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VERIFIED ADOPTERS INCLUDE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654840" y="3848062"/>
            <a:ext cx="4145423" cy="4941256"/>
            <a:chOff x="0" y="0"/>
            <a:chExt cx="5527230" cy="65883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27294" cy="6588379"/>
            </a:xfrm>
            <a:custGeom>
              <a:avLst/>
              <a:gdLst/>
              <a:ahLst/>
              <a:cxnLst/>
              <a:rect r="r" b="b" t="t" l="l"/>
              <a:pathLst>
                <a:path h="6588379" w="5527294">
                  <a:moveTo>
                    <a:pt x="0" y="0"/>
                  </a:moveTo>
                  <a:lnTo>
                    <a:pt x="5527294" y="0"/>
                  </a:lnTo>
                  <a:lnTo>
                    <a:pt x="5527294" y="6588379"/>
                  </a:lnTo>
                  <a:lnTo>
                    <a:pt x="0" y="6588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1" b="-26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374816" y="4354706"/>
            <a:ext cx="1918459" cy="49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1"/>
              </a:lnSpc>
            </a:pPr>
            <a:r>
              <a:rPr lang="en-US" b="true" sz="1923" spc="15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CLOUDFLARE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68976" y="4285336"/>
            <a:ext cx="1093784" cy="644985"/>
            <a:chOff x="0" y="0"/>
            <a:chExt cx="1458379" cy="8599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58341" cy="860044"/>
            </a:xfrm>
            <a:custGeom>
              <a:avLst/>
              <a:gdLst/>
              <a:ahLst/>
              <a:cxnLst/>
              <a:rect r="r" b="b" t="t" l="l"/>
              <a:pathLst>
                <a:path h="860044" w="1458341">
                  <a:moveTo>
                    <a:pt x="0" y="0"/>
                  </a:moveTo>
                  <a:lnTo>
                    <a:pt x="1458341" y="0"/>
                  </a:lnTo>
                  <a:lnTo>
                    <a:pt x="1458341" y="860044"/>
                  </a:lnTo>
                  <a:lnTo>
                    <a:pt x="0" y="860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-2" b="-1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311113" y="5356670"/>
            <a:ext cx="1531296" cy="644985"/>
            <a:chOff x="0" y="0"/>
            <a:chExt cx="2041728" cy="8599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41779" cy="860044"/>
            </a:xfrm>
            <a:custGeom>
              <a:avLst/>
              <a:gdLst/>
              <a:ahLst/>
              <a:cxnLst/>
              <a:rect r="r" b="b" t="t" l="l"/>
              <a:pathLst>
                <a:path h="860044" w="2041779">
                  <a:moveTo>
                    <a:pt x="0" y="0"/>
                  </a:moveTo>
                  <a:lnTo>
                    <a:pt x="2041779" y="0"/>
                  </a:lnTo>
                  <a:lnTo>
                    <a:pt x="2041779" y="860044"/>
                  </a:lnTo>
                  <a:lnTo>
                    <a:pt x="0" y="860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2" b="-1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311113" y="6428013"/>
            <a:ext cx="1968808" cy="863632"/>
            <a:chOff x="0" y="0"/>
            <a:chExt cx="2625077" cy="11515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25090" cy="1151509"/>
            </a:xfrm>
            <a:custGeom>
              <a:avLst/>
              <a:gdLst/>
              <a:ahLst/>
              <a:cxnLst/>
              <a:rect r="r" b="b" t="t" l="l"/>
              <a:pathLst>
                <a:path h="1151509" w="2625090">
                  <a:moveTo>
                    <a:pt x="0" y="0"/>
                  </a:moveTo>
                  <a:lnTo>
                    <a:pt x="2625090" y="0"/>
                  </a:lnTo>
                  <a:lnTo>
                    <a:pt x="2625090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6" r="0" b="-2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311113" y="7707049"/>
            <a:ext cx="875024" cy="874557"/>
            <a:chOff x="0" y="0"/>
            <a:chExt cx="1166698" cy="11660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66749" cy="1166114"/>
            </a:xfrm>
            <a:custGeom>
              <a:avLst/>
              <a:gdLst/>
              <a:ahLst/>
              <a:cxnLst/>
              <a:rect r="r" b="b" t="t" l="l"/>
              <a:pathLst>
                <a:path h="1166114" w="1166749">
                  <a:moveTo>
                    <a:pt x="0" y="0"/>
                  </a:moveTo>
                  <a:lnTo>
                    <a:pt x="1166749" y="0"/>
                  </a:lnTo>
                  <a:lnTo>
                    <a:pt x="1166749" y="1166114"/>
                  </a:lnTo>
                  <a:lnTo>
                    <a:pt x="0" y="1166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6" r="4" b="-23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084428" y="7470848"/>
            <a:ext cx="1467783" cy="92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b="true" sz="3755" spc="-7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GitLab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008089" y="634051"/>
            <a:ext cx="7853343" cy="6012590"/>
            <a:chOff x="0" y="0"/>
            <a:chExt cx="10471125" cy="80167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71150" cy="8016748"/>
            </a:xfrm>
            <a:custGeom>
              <a:avLst/>
              <a:gdLst/>
              <a:ahLst/>
              <a:cxnLst/>
              <a:rect r="r" b="b" t="t" l="l"/>
              <a:pathLst>
                <a:path h="8016748" w="10471150">
                  <a:moveTo>
                    <a:pt x="0" y="0"/>
                  </a:moveTo>
                  <a:lnTo>
                    <a:pt x="10471150" y="0"/>
                  </a:lnTo>
                  <a:lnTo>
                    <a:pt x="10471150" y="8016748"/>
                  </a:lnTo>
                  <a:lnTo>
                    <a:pt x="0" y="8016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6" r="0" b="-2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008089" y="6428013"/>
            <a:ext cx="7853343" cy="3006300"/>
            <a:chOff x="0" y="0"/>
            <a:chExt cx="10471125" cy="400839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71150" cy="4008374"/>
            </a:xfrm>
            <a:custGeom>
              <a:avLst/>
              <a:gdLst/>
              <a:ahLst/>
              <a:cxnLst/>
              <a:rect r="r" b="b" t="t" l="l"/>
              <a:pathLst>
                <a:path h="4008374" w="10471150">
                  <a:moveTo>
                    <a:pt x="0" y="0"/>
                  </a:moveTo>
                  <a:lnTo>
                    <a:pt x="10471150" y="0"/>
                  </a:lnTo>
                  <a:lnTo>
                    <a:pt x="10471150" y="4008374"/>
                  </a:lnTo>
                  <a:lnTo>
                    <a:pt x="0" y="4008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" r="0" b="-26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556853" y="6784276"/>
            <a:ext cx="2482844" cy="4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b="true" sz="1784" spc="-3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REAL-WORLD IMPACT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11419" y="7308771"/>
            <a:ext cx="7026402" cy="150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b="true" sz="2759" spc="-55">
                <a:solidFill>
                  <a:srgbClr val="1775E3"/>
                </a:solidFill>
                <a:latin typeface="Roboto Bold"/>
                <a:ea typeface="Roboto Bold"/>
                <a:cs typeface="Roboto Bold"/>
                <a:sym typeface="Roboto Bold"/>
              </a:rPr>
              <a:t>Cloudflare</a:t>
            </a:r>
            <a:r>
              <a:rPr lang="en-US" sz="2759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b="true" sz="2759" spc="-55">
                <a:solidFill>
                  <a:srgbClr val="1775E3"/>
                </a:solidFill>
                <a:latin typeface="Roboto Bold"/>
                <a:ea typeface="Roboto Bold"/>
                <a:cs typeface="Roboto Bold"/>
                <a:sym typeface="Roboto Bold"/>
              </a:rPr>
              <a:t>Uber</a:t>
            </a:r>
            <a:r>
              <a:rPr lang="en-US" sz="2759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rely on </a:t>
            </a:r>
            <a:r>
              <a:rPr lang="en-US" b="true" sz="2759" spc="-55">
                <a:solidFill>
                  <a:srgbClr val="1775E3"/>
                </a:solidFill>
                <a:latin typeface="Roboto Bold"/>
                <a:ea typeface="Roboto Bold"/>
                <a:cs typeface="Roboto Bold"/>
                <a:sym typeface="Roboto Bold"/>
              </a:rPr>
              <a:t>ClickHouse</a:t>
            </a:r>
            <a:r>
              <a:rPr lang="en-US" sz="2759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to deliver fast, reliable analytics</a:t>
            </a:r>
          </a:p>
          <a:p>
            <a:pPr algn="l">
              <a:lnSpc>
                <a:spcPts val="3862"/>
              </a:lnSpc>
            </a:pPr>
            <a:r>
              <a:rPr lang="en-US" sz="2759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at massive scale.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75158" y="9058466"/>
            <a:ext cx="6778066" cy="826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1784" spc="-3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ClickHouse adopters page and engineering articles from</a:t>
            </a:r>
          </a:p>
          <a:p>
            <a:pPr algn="l">
              <a:lnSpc>
                <a:spcPts val="3033"/>
              </a:lnSpc>
            </a:pPr>
            <a:r>
              <a:rPr lang="en-US" b="true" sz="1784" spc="-34">
                <a:solidFill>
                  <a:srgbClr val="1775E3"/>
                </a:solidFill>
                <a:latin typeface="Roboto Bold"/>
                <a:ea typeface="Roboto Bold"/>
                <a:cs typeface="Roboto Bold"/>
                <a:sym typeface="Roboto Bold"/>
              </a:rPr>
              <a:t>Cloudflare, Uber, eBay, GitLab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52202" y="2517286"/>
            <a:ext cx="9073505" cy="49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b="true" sz="1923" spc="-37">
                <a:solidFill>
                  <a:srgbClr val="1775E3"/>
                </a:solidFill>
                <a:latin typeface="Roboto Bold"/>
                <a:ea typeface="Roboto Bold"/>
                <a:cs typeface="Roboto Bold"/>
                <a:sym typeface="Roboto Bold"/>
              </a:rPr>
              <a:t>ClickHouse</a:t>
            </a:r>
            <a:r>
              <a:rPr lang="en-US" sz="1923" spc="-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powers analytics for the world's most data-intensive organizations.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72900" cy="10616006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8188" y="663445"/>
            <a:ext cx="7080590" cy="1920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3"/>
              </a:lnSpc>
            </a:pPr>
            <a:r>
              <a:rPr lang="en-US" b="true" sz="7124" spc="-284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Performance and Optimization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26577" y="2995365"/>
            <a:ext cx="1542231" cy="229572"/>
            <a:chOff x="0" y="0"/>
            <a:chExt cx="2056308" cy="3060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6257" cy="306070"/>
            </a:xfrm>
            <a:custGeom>
              <a:avLst/>
              <a:gdLst/>
              <a:ahLst/>
              <a:cxnLst/>
              <a:rect r="r" b="b" t="t" l="l"/>
              <a:pathLst>
                <a:path h="306070" w="2056257">
                  <a:moveTo>
                    <a:pt x="0" y="0"/>
                  </a:moveTo>
                  <a:lnTo>
                    <a:pt x="2056257" y="0"/>
                  </a:lnTo>
                  <a:lnTo>
                    <a:pt x="2056257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" r="-2" b="-37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74450" y="3408416"/>
            <a:ext cx="6132805" cy="838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61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Performance is driven by columnar reads, compression, vectorized execution, and parallelism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3935" y="4413485"/>
            <a:ext cx="6184573" cy="44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b="true" sz="2046" spc="-59">
                <a:solidFill>
                  <a:srgbClr val="1569D6"/>
                </a:solidFill>
                <a:latin typeface="Roboto Bold"/>
                <a:ea typeface="Roboto Bold"/>
                <a:cs typeface="Roboto Bold"/>
                <a:sym typeface="Roboto Bold"/>
              </a:rPr>
              <a:t>Order by key</a:t>
            </a:r>
            <a:r>
              <a:rPr lang="en-US" sz="2046" spc="-59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 ensures data locality and faster queries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8166" y="5064481"/>
            <a:ext cx="4761662" cy="838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b="true" sz="2109" spc="-61">
                <a:solidFill>
                  <a:srgbClr val="1569D6"/>
                </a:solidFill>
                <a:latin typeface="Roboto Bold"/>
                <a:ea typeface="Roboto Bold"/>
                <a:cs typeface="Roboto Bold"/>
                <a:sym typeface="Roboto Bold"/>
              </a:rPr>
              <a:t>Partitioning</a:t>
            </a:r>
            <a:r>
              <a:rPr lang="en-US" sz="2109" spc="-61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 and data-skipping indexes</a:t>
            </a:r>
          </a:p>
          <a:p>
            <a:pPr algn="l">
              <a:lnSpc>
                <a:spcPts val="3164"/>
              </a:lnSpc>
            </a:pPr>
            <a:r>
              <a:rPr lang="en-US" sz="2109" spc="-61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speed up filtering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5280" y="6073559"/>
            <a:ext cx="5050041" cy="838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61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-US" b="true" sz="2109" spc="-61">
                <a:solidFill>
                  <a:srgbClr val="1569D6"/>
                </a:solidFill>
                <a:latin typeface="Roboto Bold"/>
                <a:ea typeface="Roboto Bold"/>
                <a:cs typeface="Roboto Bold"/>
                <a:sym typeface="Roboto Bold"/>
              </a:rPr>
              <a:t>batched inserts</a:t>
            </a:r>
            <a:r>
              <a:rPr lang="en-US" sz="2109" spc="-61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 and avoid many tiny inserts to reduce data parts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9041" y="7097697"/>
            <a:ext cx="5673709" cy="838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61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Real-world speed depends on workload, hardware, </a:t>
            </a:r>
            <a:r>
              <a:rPr lang="en-US" b="true" sz="2109" spc="-61">
                <a:solidFill>
                  <a:srgbClr val="1569D6"/>
                </a:solidFill>
                <a:latin typeface="Roboto Bold"/>
                <a:ea typeface="Roboto Bold"/>
                <a:cs typeface="Roboto Bold"/>
                <a:sym typeface="Roboto Bold"/>
              </a:rPr>
              <a:t>schema design</a:t>
            </a:r>
            <a:r>
              <a:rPr lang="en-US" sz="2109" spc="-61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, and query patterns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9212" y="8118453"/>
            <a:ext cx="5657202" cy="119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046" spc="-59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Benchmark fairly against </a:t>
            </a:r>
            <a:r>
              <a:rPr lang="en-US" b="true" sz="2046" spc="-59">
                <a:solidFill>
                  <a:srgbClr val="1569D6"/>
                </a:solidFill>
                <a:latin typeface="Roboto Bold"/>
                <a:ea typeface="Roboto Bold"/>
                <a:cs typeface="Roboto Bold"/>
                <a:sym typeface="Roboto Bold"/>
              </a:rPr>
              <a:t>MySQL</a:t>
            </a:r>
            <a:r>
              <a:rPr lang="en-US" sz="2046" spc="-59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 with equivalent queries, identical data, same hardware, and measured timings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748624" y="2142668"/>
            <a:ext cx="11331559" cy="4503982"/>
            <a:chOff x="0" y="0"/>
            <a:chExt cx="15108746" cy="60053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108810" cy="6005322"/>
            </a:xfrm>
            <a:custGeom>
              <a:avLst/>
              <a:gdLst/>
              <a:ahLst/>
              <a:cxnLst/>
              <a:rect r="r" b="b" t="t" l="l"/>
              <a:pathLst>
                <a:path h="6005322" w="15108810">
                  <a:moveTo>
                    <a:pt x="0" y="0"/>
                  </a:moveTo>
                  <a:lnTo>
                    <a:pt x="15108810" y="0"/>
                  </a:lnTo>
                  <a:lnTo>
                    <a:pt x="15108810" y="6005322"/>
                  </a:lnTo>
                  <a:lnTo>
                    <a:pt x="0" y="6005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0" b="-2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050216" y="6209367"/>
            <a:ext cx="5884535" cy="863632"/>
            <a:chOff x="0" y="0"/>
            <a:chExt cx="7846047" cy="11515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46060" cy="1151509"/>
            </a:xfrm>
            <a:custGeom>
              <a:avLst/>
              <a:gdLst/>
              <a:ahLst/>
              <a:cxnLst/>
              <a:rect r="r" b="b" t="t" l="l"/>
              <a:pathLst>
                <a:path h="1151509" w="7846060">
                  <a:moveTo>
                    <a:pt x="0" y="0"/>
                  </a:moveTo>
                  <a:lnTo>
                    <a:pt x="7846060" y="0"/>
                  </a:lnTo>
                  <a:lnTo>
                    <a:pt x="7846060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0" b="-2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16000" y="6209367"/>
            <a:ext cx="2395376" cy="863632"/>
            <a:chOff x="0" y="0"/>
            <a:chExt cx="3193834" cy="11515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93796" cy="1151509"/>
            </a:xfrm>
            <a:custGeom>
              <a:avLst/>
              <a:gdLst/>
              <a:ahLst/>
              <a:cxnLst/>
              <a:rect r="r" b="b" t="t" l="l"/>
              <a:pathLst>
                <a:path h="1151509" w="3193796">
                  <a:moveTo>
                    <a:pt x="0" y="0"/>
                  </a:moveTo>
                  <a:lnTo>
                    <a:pt x="3193796" y="0"/>
                  </a:lnTo>
                  <a:lnTo>
                    <a:pt x="3193796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-1" b="-2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326878" y="7463819"/>
            <a:ext cx="1466298" cy="106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863" spc="-55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batch inserts reduce parts and overhead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44212" y="6962032"/>
            <a:ext cx="1265377" cy="41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b="true" sz="1916" spc="-57">
                <a:solidFill>
                  <a:srgbClr val="1569D6"/>
                </a:solidFill>
                <a:latin typeface="Roboto Bold"/>
                <a:ea typeface="Roboto Bold"/>
                <a:cs typeface="Roboto Bold"/>
                <a:sym typeface="Roboto Bold"/>
              </a:rPr>
              <a:t>ORGANIZE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39418" y="7463809"/>
            <a:ext cx="1474956" cy="106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863" spc="-55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partitioning improves manageability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90592" y="7463809"/>
            <a:ext cx="1547193" cy="106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863" spc="-55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data-skipping indexes speed up filtering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92048" y="6962032"/>
            <a:ext cx="1138533" cy="41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b="true" sz="1916" spc="-57">
                <a:solidFill>
                  <a:srgbClr val="1569D6"/>
                </a:solidFill>
                <a:latin typeface="Roboto Bold"/>
                <a:ea typeface="Roboto Bold"/>
                <a:cs typeface="Roboto Bold"/>
                <a:sym typeface="Roboto Bold"/>
              </a:rPr>
              <a:t>EXECUTE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11378" y="7463809"/>
            <a:ext cx="1499864" cy="106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863" spc="-55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vectorized execution and parallelism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481392" y="6962032"/>
            <a:ext cx="1099442" cy="41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b="true" sz="1916" spc="-57">
                <a:solidFill>
                  <a:srgbClr val="1569D6"/>
                </a:solidFill>
                <a:latin typeface="Roboto Bold"/>
                <a:ea typeface="Roboto Bold"/>
                <a:cs typeface="Roboto Bold"/>
                <a:sym typeface="Roboto Bold"/>
              </a:rPr>
              <a:t>RESULTS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304075" y="7463819"/>
            <a:ext cx="1454077" cy="106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863" spc="-55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faster queries and lower latency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11266" y="6962032"/>
            <a:ext cx="897531" cy="41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b="true" sz="1916" spc="-57">
                <a:solidFill>
                  <a:srgbClr val="1569D6"/>
                </a:solidFill>
                <a:latin typeface="Roboto Bold"/>
                <a:ea typeface="Roboto Bold"/>
                <a:cs typeface="Roboto Bold"/>
                <a:sym typeface="Roboto Bold"/>
              </a:rPr>
              <a:t>INGEST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90109" y="6962032"/>
            <a:ext cx="748151" cy="41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b="true" sz="1916" spc="-57">
                <a:solidFill>
                  <a:srgbClr val="1569D6"/>
                </a:solidFill>
                <a:latin typeface="Roboto Bold"/>
                <a:ea typeface="Roboto Bold"/>
                <a:cs typeface="Roboto Bold"/>
                <a:sym typeface="Roboto Bold"/>
              </a:rPr>
              <a:t>INDEX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632408" cy="1048073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58832" y="599999"/>
            <a:ext cx="11089862" cy="1877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0"/>
              </a:lnSpc>
            </a:pPr>
            <a:r>
              <a:rPr lang="en-US" b="true" sz="7353" spc="-146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Practical Applications and Database Strategy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5328" y="2776728"/>
            <a:ext cx="3281343" cy="3662220"/>
            <a:chOff x="0" y="0"/>
            <a:chExt cx="4375125" cy="4882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5150" cy="4882896"/>
            </a:xfrm>
            <a:custGeom>
              <a:avLst/>
              <a:gdLst/>
              <a:ahLst/>
              <a:cxnLst/>
              <a:rect r="r" b="b" t="t" l="l"/>
              <a:pathLst>
                <a:path h="4882896" w="4375150">
                  <a:moveTo>
                    <a:pt x="0" y="0"/>
                  </a:moveTo>
                  <a:lnTo>
                    <a:pt x="4375150" y="0"/>
                  </a:lnTo>
                  <a:lnTo>
                    <a:pt x="4375150" y="4882896"/>
                  </a:lnTo>
                  <a:lnTo>
                    <a:pt x="0" y="488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7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19251" y="3173606"/>
            <a:ext cx="1693831" cy="22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6"/>
              </a:lnSpc>
            </a:pPr>
            <a:r>
              <a:rPr lang="en-US" b="true" sz="1863" spc="-36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APPLICATIONS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5778" y="3615538"/>
            <a:ext cx="2578532" cy="2205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198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Web and Mobile Apps</a:t>
            </a:r>
          </a:p>
          <a:p>
            <a:pPr algn="l">
              <a:lnSpc>
                <a:spcPts val="4170"/>
              </a:lnSpc>
            </a:pPr>
            <a:r>
              <a:rPr lang="en-US" sz="198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Services</a:t>
            </a:r>
          </a:p>
          <a:p>
            <a:pPr algn="l">
              <a:lnSpc>
                <a:spcPts val="4170"/>
              </a:lnSpc>
            </a:pPr>
            <a:r>
              <a:rPr lang="en-US" sz="198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IoT Devices</a:t>
            </a:r>
          </a:p>
          <a:p>
            <a:pPr algn="l">
              <a:lnSpc>
                <a:spcPts val="4170"/>
              </a:lnSpc>
            </a:pPr>
            <a:r>
              <a:rPr lang="en-US" sz="198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Monitoring Agents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696976" y="4066699"/>
            <a:ext cx="1093784" cy="655920"/>
            <a:chOff x="0" y="0"/>
            <a:chExt cx="1458379" cy="87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58341" cy="874522"/>
            </a:xfrm>
            <a:custGeom>
              <a:avLst/>
              <a:gdLst/>
              <a:ahLst/>
              <a:cxnLst/>
              <a:rect r="r" b="b" t="t" l="l"/>
              <a:pathLst>
                <a:path h="874522" w="1458341">
                  <a:moveTo>
                    <a:pt x="0" y="0"/>
                  </a:moveTo>
                  <a:lnTo>
                    <a:pt x="1458341" y="0"/>
                  </a:lnTo>
                  <a:lnTo>
                    <a:pt x="1458341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-2" b="-3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779816" y="2776728"/>
            <a:ext cx="3937606" cy="3662220"/>
            <a:chOff x="0" y="0"/>
            <a:chExt cx="5250142" cy="4882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50180" cy="4882896"/>
            </a:xfrm>
            <a:custGeom>
              <a:avLst/>
              <a:gdLst/>
              <a:ahLst/>
              <a:cxnLst/>
              <a:rect r="r" b="b" t="t" l="l"/>
              <a:pathLst>
                <a:path h="4882896" w="5250180">
                  <a:moveTo>
                    <a:pt x="0" y="0"/>
                  </a:moveTo>
                  <a:lnTo>
                    <a:pt x="5250180" y="0"/>
                  </a:lnTo>
                  <a:lnTo>
                    <a:pt x="5250180" y="4882896"/>
                  </a:lnTo>
                  <a:lnTo>
                    <a:pt x="0" y="488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0" b="-2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072769" y="3117675"/>
            <a:ext cx="1402223" cy="41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5"/>
              </a:lnSpc>
            </a:pPr>
            <a:r>
              <a:rPr lang="en-US" b="true" sz="3168" spc="-63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MYSQL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24314" y="3931025"/>
            <a:ext cx="899131" cy="352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759" spc="-55">
                <a:solidFill>
                  <a:srgbClr val="1570DD"/>
                </a:solidFill>
                <a:latin typeface="Roboto Bold"/>
                <a:ea typeface="Roboto Bold"/>
                <a:cs typeface="Roboto Bold"/>
                <a:sym typeface="Roboto Bold"/>
              </a:rPr>
              <a:t>OLTP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77250" y="4504982"/>
            <a:ext cx="2993269" cy="692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04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Transactional Workloads</a:t>
            </a:r>
          </a:p>
          <a:p>
            <a:pPr algn="ctr">
              <a:lnSpc>
                <a:spcPts val="2660"/>
              </a:lnSpc>
            </a:pPr>
            <a:r>
              <a:rPr lang="en-US" sz="204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Strong ACID Guarantees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73601" y="5564381"/>
            <a:ext cx="1968808" cy="1508617"/>
            <a:chOff x="0" y="0"/>
            <a:chExt cx="2625077" cy="20114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25090" cy="2011426"/>
            </a:xfrm>
            <a:custGeom>
              <a:avLst/>
              <a:gdLst/>
              <a:ahLst/>
              <a:cxnLst/>
              <a:rect r="r" b="b" t="t" l="l"/>
              <a:pathLst>
                <a:path h="2011426" w="2625090">
                  <a:moveTo>
                    <a:pt x="0" y="0"/>
                  </a:moveTo>
                  <a:lnTo>
                    <a:pt x="2625090" y="0"/>
                  </a:lnTo>
                  <a:lnTo>
                    <a:pt x="2625090" y="2011426"/>
                  </a:lnTo>
                  <a:lnTo>
                    <a:pt x="0" y="2011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0" b="-2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706488" y="4066699"/>
            <a:ext cx="875024" cy="655920"/>
            <a:chOff x="0" y="0"/>
            <a:chExt cx="1166698" cy="874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66749" cy="874522"/>
            </a:xfrm>
            <a:custGeom>
              <a:avLst/>
              <a:gdLst/>
              <a:ahLst/>
              <a:cxnLst/>
              <a:rect r="r" b="b" t="t" l="l"/>
              <a:pathLst>
                <a:path h="874522" w="1166749">
                  <a:moveTo>
                    <a:pt x="0" y="0"/>
                  </a:moveTo>
                  <a:lnTo>
                    <a:pt x="1166749" y="0"/>
                  </a:lnTo>
                  <a:lnTo>
                    <a:pt x="1166749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4" b="-3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70577" y="2776728"/>
            <a:ext cx="4145423" cy="3662220"/>
            <a:chOff x="0" y="0"/>
            <a:chExt cx="5527230" cy="4882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27294" cy="4882896"/>
            </a:xfrm>
            <a:custGeom>
              <a:avLst/>
              <a:gdLst/>
              <a:ahLst/>
              <a:cxnLst/>
              <a:rect r="r" b="b" t="t" l="l"/>
              <a:pathLst>
                <a:path h="4882896" w="5527294">
                  <a:moveTo>
                    <a:pt x="0" y="0"/>
                  </a:moveTo>
                  <a:lnTo>
                    <a:pt x="5527294" y="0"/>
                  </a:lnTo>
                  <a:lnTo>
                    <a:pt x="5527294" y="4882896"/>
                  </a:lnTo>
                  <a:lnTo>
                    <a:pt x="0" y="488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6" r="1" b="-27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386774" y="3117675"/>
            <a:ext cx="2566149" cy="41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5"/>
              </a:lnSpc>
            </a:pPr>
            <a:r>
              <a:rPr lang="en-US" b="true" sz="3168" spc="-63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CLICKHOUSE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99990" y="3765356"/>
            <a:ext cx="937041" cy="352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759" spc="-55">
                <a:solidFill>
                  <a:srgbClr val="1570DD"/>
                </a:solidFill>
                <a:latin typeface="Roboto Bold"/>
                <a:ea typeface="Roboto Bold"/>
                <a:cs typeface="Roboto Bold"/>
                <a:sym typeface="Roboto Bold"/>
              </a:rPr>
              <a:t>OLAP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61803" y="4173645"/>
            <a:ext cx="2413406" cy="133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04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Dashboards</a:t>
            </a:r>
          </a:p>
          <a:p>
            <a:pPr algn="ctr">
              <a:lnSpc>
                <a:spcPts val="2660"/>
              </a:lnSpc>
            </a:pPr>
            <a:r>
              <a:rPr lang="en-US" sz="204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Logs &amp; Events</a:t>
            </a:r>
          </a:p>
          <a:p>
            <a:pPr algn="ctr">
              <a:lnSpc>
                <a:spcPts val="2660"/>
              </a:lnSpc>
            </a:pPr>
            <a:r>
              <a:rPr lang="en-US" sz="204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Monitoring</a:t>
            </a:r>
          </a:p>
          <a:p>
            <a:pPr algn="ctr">
              <a:lnSpc>
                <a:spcPts val="2660"/>
              </a:lnSpc>
            </a:pPr>
            <a:r>
              <a:rPr lang="en-US" sz="204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Real-Time Analytics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664352" y="5564381"/>
            <a:ext cx="1750047" cy="1508617"/>
            <a:chOff x="0" y="0"/>
            <a:chExt cx="2333396" cy="20114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33371" cy="2011426"/>
            </a:xfrm>
            <a:custGeom>
              <a:avLst/>
              <a:gdLst/>
              <a:ahLst/>
              <a:cxnLst/>
              <a:rect r="r" b="b" t="t" l="l"/>
              <a:pathLst>
                <a:path h="2011426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2011426"/>
                  </a:lnTo>
                  <a:lnTo>
                    <a:pt x="0" y="2011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6" r="-1" b="-2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716000" y="4066699"/>
            <a:ext cx="875024" cy="655920"/>
            <a:chOff x="0" y="0"/>
            <a:chExt cx="1166698" cy="8745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66749" cy="874522"/>
            </a:xfrm>
            <a:custGeom>
              <a:avLst/>
              <a:gdLst/>
              <a:ahLst/>
              <a:cxnLst/>
              <a:rect r="r" b="b" t="t" l="l"/>
              <a:pathLst>
                <a:path h="874522" w="1166749">
                  <a:moveTo>
                    <a:pt x="0" y="0"/>
                  </a:moveTo>
                  <a:lnTo>
                    <a:pt x="1166749" y="0"/>
                  </a:lnTo>
                  <a:lnTo>
                    <a:pt x="1166749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6" r="4" b="-3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580089" y="2776728"/>
            <a:ext cx="3062583" cy="3662220"/>
            <a:chOff x="0" y="0"/>
            <a:chExt cx="4083444" cy="4882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83431" cy="4882896"/>
            </a:xfrm>
            <a:custGeom>
              <a:avLst/>
              <a:gdLst/>
              <a:ahLst/>
              <a:cxnLst/>
              <a:rect r="r" b="b" t="t" l="l"/>
              <a:pathLst>
                <a:path h="4882896" w="4083431">
                  <a:moveTo>
                    <a:pt x="0" y="0"/>
                  </a:moveTo>
                  <a:lnTo>
                    <a:pt x="4083431" y="0"/>
                  </a:lnTo>
                  <a:lnTo>
                    <a:pt x="4083431" y="4882896"/>
                  </a:lnTo>
                  <a:lnTo>
                    <a:pt x="0" y="488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" r="0" b="-27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5423928" y="3173606"/>
            <a:ext cx="1484928" cy="22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6"/>
              </a:lnSpc>
            </a:pPr>
            <a:r>
              <a:rPr lang="en-US" b="true" sz="1863" spc="-36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CONSUMERS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289540" y="3615538"/>
            <a:ext cx="1796034" cy="2205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sz="198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Dashboards</a:t>
            </a:r>
          </a:p>
          <a:p>
            <a:pPr algn="ctr">
              <a:lnSpc>
                <a:spcPts val="4170"/>
              </a:lnSpc>
            </a:pPr>
            <a:r>
              <a:rPr lang="en-US" sz="198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Reports</a:t>
            </a:r>
          </a:p>
          <a:p>
            <a:pPr algn="ctr">
              <a:lnSpc>
                <a:spcPts val="4170"/>
              </a:lnSpc>
            </a:pPr>
            <a:r>
              <a:rPr lang="en-US" sz="198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Alerts</a:t>
            </a:r>
          </a:p>
          <a:p>
            <a:pPr algn="ctr">
              <a:lnSpc>
                <a:spcPts val="4170"/>
              </a:lnSpc>
            </a:pPr>
            <a:r>
              <a:rPr lang="en-US" sz="198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Analytics Tools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45328" y="7280700"/>
            <a:ext cx="16997343" cy="2579951"/>
            <a:chOff x="0" y="0"/>
            <a:chExt cx="22663125" cy="343993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663150" cy="3439922"/>
            </a:xfrm>
            <a:custGeom>
              <a:avLst/>
              <a:gdLst/>
              <a:ahLst/>
              <a:cxnLst/>
              <a:rect r="r" b="b" t="t" l="l"/>
              <a:pathLst>
                <a:path h="3439922" w="22663150">
                  <a:moveTo>
                    <a:pt x="0" y="0"/>
                  </a:moveTo>
                  <a:lnTo>
                    <a:pt x="22663150" y="0"/>
                  </a:lnTo>
                  <a:lnTo>
                    <a:pt x="22663150" y="3439922"/>
                  </a:lnTo>
                  <a:lnTo>
                    <a:pt x="0" y="3439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6" r="0" b="-26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44769" y="7615152"/>
            <a:ext cx="6804422" cy="31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b="true" sz="2387" spc="-47">
                <a:solidFill>
                  <a:srgbClr val="1570DD"/>
                </a:solidFill>
                <a:latin typeface="Roboto Bold"/>
                <a:ea typeface="Roboto Bold"/>
                <a:cs typeface="Roboto Bold"/>
                <a:sym typeface="Roboto Bold"/>
              </a:rPr>
              <a:t>WHY THIS COMBINATION WORKS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6760" y="7780430"/>
            <a:ext cx="6801021" cy="1192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1916" spc="-38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Real-time reporting without impacting transactional system</a:t>
            </a:r>
          </a:p>
          <a:p>
            <a:pPr algn="l">
              <a:lnSpc>
                <a:spcPts val="4215"/>
              </a:lnSpc>
            </a:pPr>
            <a:r>
              <a:rPr lang="en-US" sz="1916" spc="-38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Best tool for each workload type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706488" y="7499347"/>
            <a:ext cx="229695" cy="2153602"/>
            <a:chOff x="0" y="0"/>
            <a:chExt cx="306260" cy="28714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6197" cy="2871470"/>
            </a:xfrm>
            <a:custGeom>
              <a:avLst/>
              <a:gdLst/>
              <a:ahLst/>
              <a:cxnLst/>
              <a:rect r="r" b="b" t="t" l="l"/>
              <a:pathLst>
                <a:path h="2871470" w="306197">
                  <a:moveTo>
                    <a:pt x="0" y="0"/>
                  </a:moveTo>
                  <a:lnTo>
                    <a:pt x="306197" y="0"/>
                  </a:lnTo>
                  <a:lnTo>
                    <a:pt x="306197" y="2871470"/>
                  </a:lnTo>
                  <a:lnTo>
                    <a:pt x="0" y="2871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6" r="-20" b="-26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270816" y="7824121"/>
            <a:ext cx="7856363" cy="162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2"/>
              </a:lnSpc>
            </a:pPr>
            <a:r>
              <a:rPr lang="en-US" b="true" sz="1986" spc="-39">
                <a:solidFill>
                  <a:srgbClr val="1570DD"/>
                </a:solidFill>
                <a:latin typeface="Roboto Bold"/>
                <a:ea typeface="Roboto Bold"/>
                <a:cs typeface="Roboto Bold"/>
                <a:sym typeface="Roboto Bold"/>
              </a:rPr>
              <a:t>ClickHouse: </a:t>
            </a:r>
            <a:r>
              <a:rPr lang="en-US" sz="198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analytics, events, logs, dashboards, real-time insights</a:t>
            </a:r>
          </a:p>
          <a:p>
            <a:pPr algn="l">
              <a:lnSpc>
                <a:spcPts val="3972"/>
              </a:lnSpc>
            </a:pPr>
            <a:r>
              <a:rPr lang="en-US" b="true" sz="1986" spc="-39">
                <a:solidFill>
                  <a:srgbClr val="1570DD"/>
                </a:solidFill>
                <a:latin typeface="Roboto Bold"/>
                <a:ea typeface="Roboto Bold"/>
                <a:cs typeface="Roboto Bold"/>
                <a:sym typeface="Roboto Bold"/>
              </a:rPr>
              <a:t>MySQL: </a:t>
            </a:r>
            <a:r>
              <a:rPr lang="en-US" sz="198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transactions, user data, operations, strong consistency</a:t>
            </a:r>
          </a:p>
          <a:p>
            <a:pPr algn="l">
              <a:lnSpc>
                <a:spcPts val="3972"/>
              </a:lnSpc>
            </a:pPr>
            <a:r>
              <a:rPr lang="en-US" b="true" sz="1986" spc="-39">
                <a:solidFill>
                  <a:srgbClr val="1570DD"/>
                </a:solidFill>
                <a:latin typeface="Roboto Bold"/>
                <a:ea typeface="Roboto Bold"/>
                <a:cs typeface="Roboto Bold"/>
                <a:sym typeface="Roboto Bold"/>
              </a:rPr>
              <a:t>Both: </a:t>
            </a:r>
            <a:r>
              <a:rPr lang="en-US" sz="1986" spc="-3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modern applications needing speed and reliability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159412" cy="10777169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0577" y="0"/>
            <a:ext cx="8717423" cy="6438938"/>
            <a:chOff x="0" y="0"/>
            <a:chExt cx="11623230" cy="85852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23294" cy="8585200"/>
            </a:xfrm>
            <a:custGeom>
              <a:avLst/>
              <a:gdLst/>
              <a:ahLst/>
              <a:cxnLst/>
              <a:rect r="r" b="b" t="t" l="l"/>
              <a:pathLst>
                <a:path h="8585200" w="11623294">
                  <a:moveTo>
                    <a:pt x="0" y="0"/>
                  </a:moveTo>
                  <a:lnTo>
                    <a:pt x="11623294" y="0"/>
                  </a:lnTo>
                  <a:lnTo>
                    <a:pt x="11623294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96443" y="709374"/>
            <a:ext cx="6612665" cy="189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5"/>
              </a:lnSpc>
            </a:pPr>
            <a:r>
              <a:rPr lang="en-US" b="true" sz="7491" spc="-73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Conclusion and References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7972" y="2885408"/>
            <a:ext cx="2459726" cy="46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 spc="-23">
                <a:solidFill>
                  <a:srgbClr val="0E66E1"/>
                </a:solidFill>
                <a:latin typeface="Roboto Bold"/>
                <a:ea typeface="Roboto Bold"/>
                <a:cs typeface="Roboto Bold"/>
                <a:sym typeface="Roboto Bold"/>
              </a:rPr>
              <a:t>KEY TAKEAWAYS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3815" y="3386061"/>
            <a:ext cx="5875534" cy="82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 spc="-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ClickHouse provides columnar storage,</a:t>
            </a:r>
          </a:p>
          <a:p>
            <a:pPr algn="l">
              <a:lnSpc>
                <a:spcPts val="3180"/>
              </a:lnSpc>
            </a:pPr>
            <a:r>
              <a:rPr lang="en-US" sz="2271" spc="-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fast analytic queries, compression, scalability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6903" y="4557160"/>
            <a:ext cx="4566418" cy="46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-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Designed for large-scale analytics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2320" y="5283822"/>
            <a:ext cx="6024639" cy="43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 spc="-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MySQL common for transactional applications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26577" y="5990730"/>
            <a:ext cx="8717423" cy="229572"/>
            <a:chOff x="0" y="0"/>
            <a:chExt cx="11623230" cy="3060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23294" cy="306070"/>
            </a:xfrm>
            <a:custGeom>
              <a:avLst/>
              <a:gdLst/>
              <a:ahLst/>
              <a:cxnLst/>
              <a:rect r="r" b="b" t="t" l="l"/>
              <a:pathLst>
                <a:path h="306070" w="11623294">
                  <a:moveTo>
                    <a:pt x="0" y="0"/>
                  </a:moveTo>
                  <a:lnTo>
                    <a:pt x="11623294" y="0"/>
                  </a:lnTo>
                  <a:lnTo>
                    <a:pt x="11623294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" r="0" b="-3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43992" y="6138548"/>
            <a:ext cx="1857947" cy="46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 spc="-23">
                <a:solidFill>
                  <a:srgbClr val="0E66E1"/>
                </a:solidFill>
                <a:latin typeface="Roboto Bold"/>
                <a:ea typeface="Roboto Bold"/>
                <a:cs typeface="Roboto Bold"/>
                <a:sym typeface="Roboto Bold"/>
              </a:rPr>
              <a:t>REFERENCES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2770" y="6515681"/>
            <a:ext cx="3980269" cy="322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1986" spc="-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Official ClickHouse documentation</a:t>
            </a:r>
          </a:p>
          <a:p>
            <a:pPr algn="l">
              <a:lnSpc>
                <a:spcPts val="3574"/>
              </a:lnSpc>
            </a:pPr>
            <a:r>
              <a:rPr lang="en-US" sz="1986" spc="-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ClickHouse GitHub repository</a:t>
            </a:r>
          </a:p>
          <a:p>
            <a:pPr algn="l">
              <a:lnSpc>
                <a:spcPts val="3574"/>
              </a:lnSpc>
            </a:pPr>
            <a:r>
              <a:rPr lang="en-US" sz="1986" spc="-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ClickHouse adopters</a:t>
            </a:r>
          </a:p>
          <a:p>
            <a:pPr algn="l">
              <a:lnSpc>
                <a:spcPts val="3574"/>
              </a:lnSpc>
            </a:pPr>
            <a:r>
              <a:rPr lang="en-US" sz="1986" spc="-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Cloudflare engineering article</a:t>
            </a:r>
          </a:p>
          <a:p>
            <a:pPr algn="l">
              <a:lnSpc>
                <a:spcPts val="3574"/>
              </a:lnSpc>
            </a:pPr>
            <a:r>
              <a:rPr lang="en-US" sz="1986" spc="-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Uber engineering article</a:t>
            </a:r>
          </a:p>
          <a:p>
            <a:pPr algn="l">
              <a:lnSpc>
                <a:spcPts val="3574"/>
              </a:lnSpc>
            </a:pPr>
            <a:r>
              <a:rPr lang="en-US" sz="1986" spc="-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MySQL reference manual</a:t>
            </a:r>
          </a:p>
          <a:p>
            <a:pPr algn="l">
              <a:lnSpc>
                <a:spcPts val="3574"/>
              </a:lnSpc>
            </a:pPr>
            <a:r>
              <a:rPr lang="en-US" sz="1986" spc="-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Database textbook (OLTP &amp; OLAP)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85497" y="6577917"/>
            <a:ext cx="4901003" cy="3100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1916" spc="-18">
                <a:solidFill>
                  <a:srgbClr val="0E66E1"/>
                </a:solidFill>
                <a:latin typeface="Roboto"/>
                <a:ea typeface="Roboto"/>
                <a:cs typeface="Roboto"/>
                <a:sym typeface="Roboto"/>
              </a:rPr>
              <a:t>https://clickhouse.com/docs</a:t>
            </a:r>
          </a:p>
          <a:p>
            <a:pPr algn="l">
              <a:lnSpc>
                <a:spcPts val="3447"/>
              </a:lnSpc>
            </a:pPr>
            <a:r>
              <a:rPr lang="en-US" sz="1916" spc="-18">
                <a:solidFill>
                  <a:srgbClr val="0E66E1"/>
                </a:solidFill>
                <a:latin typeface="Roboto"/>
                <a:ea typeface="Roboto"/>
                <a:cs typeface="Roboto"/>
                <a:sym typeface="Roboto"/>
              </a:rPr>
              <a:t>https://github.com/ClickHouse/ClickHouse</a:t>
            </a:r>
          </a:p>
          <a:p>
            <a:pPr algn="l">
              <a:lnSpc>
                <a:spcPts val="3447"/>
              </a:lnSpc>
            </a:pPr>
            <a:r>
              <a:rPr lang="en-US" sz="1916" spc="-18">
                <a:solidFill>
                  <a:srgbClr val="0E66E1"/>
                </a:solidFill>
                <a:latin typeface="Roboto"/>
                <a:ea typeface="Roboto"/>
                <a:cs typeface="Roboto"/>
                <a:sym typeface="Roboto"/>
              </a:rPr>
              <a:t>https://clickhouse.com/customers</a:t>
            </a:r>
          </a:p>
          <a:p>
            <a:pPr algn="l">
              <a:lnSpc>
                <a:spcPts val="3447"/>
              </a:lnSpc>
            </a:pPr>
            <a:r>
              <a:rPr lang="en-US" sz="1916" spc="-18">
                <a:solidFill>
                  <a:srgbClr val="0E66E1"/>
                </a:solidFill>
                <a:latin typeface="Roboto"/>
                <a:ea typeface="Roboto"/>
                <a:cs typeface="Roboto"/>
                <a:sym typeface="Roboto"/>
              </a:rPr>
              <a:t>https://blog.cloudflare.com/tag/clickhouse/</a:t>
            </a:r>
          </a:p>
          <a:p>
            <a:pPr algn="l">
              <a:lnSpc>
                <a:spcPts val="3447"/>
              </a:lnSpc>
            </a:pPr>
            <a:r>
              <a:rPr lang="en-US" sz="1916" spc="-18">
                <a:solidFill>
                  <a:srgbClr val="0E66E1"/>
                </a:solidFill>
                <a:latin typeface="Roboto"/>
                <a:ea typeface="Roboto"/>
                <a:cs typeface="Roboto"/>
                <a:sym typeface="Roboto"/>
              </a:rPr>
              <a:t>https://eng.uber.com/tag/clickhouse/</a:t>
            </a:r>
          </a:p>
          <a:p>
            <a:pPr algn="l">
              <a:lnSpc>
                <a:spcPts val="3447"/>
              </a:lnSpc>
            </a:pPr>
            <a:r>
              <a:rPr lang="en-US" sz="1916" spc="-18">
                <a:solidFill>
                  <a:srgbClr val="0E66E1"/>
                </a:solidFill>
                <a:latin typeface="Roboto"/>
                <a:ea typeface="Roboto"/>
                <a:cs typeface="Roboto"/>
                <a:sym typeface="Roboto"/>
              </a:rPr>
              <a:t>https://dev.mysql.com/doc/</a:t>
            </a:r>
          </a:p>
          <a:p>
            <a:pPr algn="l">
              <a:lnSpc>
                <a:spcPts val="3447"/>
              </a:lnSpc>
            </a:pPr>
            <a:r>
              <a:rPr lang="en-US" sz="1916" spc="-18">
                <a:solidFill>
                  <a:srgbClr val="0E66E1"/>
                </a:solidFill>
                <a:latin typeface="Roboto"/>
                <a:ea typeface="Roboto"/>
                <a:cs typeface="Roboto"/>
                <a:sym typeface="Roboto"/>
              </a:rPr>
              <a:t>https://www.db-book.com/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24873" y="7238057"/>
            <a:ext cx="5605643" cy="84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2"/>
              </a:lnSpc>
            </a:pPr>
            <a:r>
              <a:rPr lang="en-US" b="true" sz="6662" spc="-65">
                <a:solidFill>
                  <a:srgbClr val="0E66E1"/>
                </a:solidFill>
                <a:latin typeface="Roboto Bold"/>
                <a:ea typeface="Roboto Bold"/>
                <a:cs typeface="Roboto Bold"/>
                <a:sym typeface="Roboto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DAHZF5i-ngA</dc:identifier>
  <dcterms:modified xsi:type="dcterms:W3CDTF">2011-08-01T06:04:30Z</dcterms:modified>
  <cp:revision>1</cp:revision>
  <dc:title>ClickHouse</dc:title>
</cp:coreProperties>
</file>